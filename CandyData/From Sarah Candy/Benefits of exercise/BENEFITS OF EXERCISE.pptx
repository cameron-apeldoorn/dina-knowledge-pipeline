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56" r:id="rId2"/>
    <p:sldId id="257" r:id="rId3"/>
    <p:sldId id="259" r:id="rId4"/>
    <p:sldId id="258" r:id="rId5"/>
    <p:sldId id="267" r:id="rId6"/>
    <p:sldId id="271" r:id="rId7"/>
    <p:sldId id="270" r:id="rId8"/>
    <p:sldId id="260" r:id="rId9"/>
    <p:sldId id="261" r:id="rId10"/>
    <p:sldId id="262" r:id="rId11"/>
    <p:sldId id="263" r:id="rId12"/>
    <p:sldId id="266" r:id="rId13"/>
    <p:sldId id="264" r:id="rId14"/>
    <p:sldId id="265" r:id="rId15"/>
    <p:sldId id="268" r:id="rId16"/>
    <p:sldId id="272" r:id="rId17"/>
    <p:sldId id="26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890" autoAdjust="0"/>
  </p:normalViewPr>
  <p:slideViewPr>
    <p:cSldViewPr>
      <p:cViewPr varScale="1">
        <p:scale>
          <a:sx n="43" d="100"/>
          <a:sy n="43" d="100"/>
        </p:scale>
        <p:origin x="-17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A6BF81-1240-4E43-9BB6-B73C05FEBA04}" type="datetimeFigureOut">
              <a:rPr lang="en-NZ" smtClean="0"/>
              <a:t>16/02/2022</a:t>
            </a:fld>
            <a:endParaRPr lang="en-NZ"/>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93D9BE-F4CD-4128-BEDF-9EC8B3D132FC}" type="slidenum">
              <a:rPr lang="en-NZ" smtClean="0"/>
              <a:t>‹#›</a:t>
            </a:fld>
            <a:endParaRPr lang="en-NZ"/>
          </a:p>
        </p:txBody>
      </p:sp>
    </p:spTree>
    <p:extLst>
      <p:ext uri="{BB962C8B-B14F-4D97-AF65-F5344CB8AC3E}">
        <p14:creationId xmlns:p14="http://schemas.microsoft.com/office/powerpoint/2010/main" val="1838381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Provide hand outs</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1</a:t>
            </a:fld>
            <a:endParaRPr lang="en-NZ"/>
          </a:p>
        </p:txBody>
      </p:sp>
    </p:spTree>
    <p:extLst>
      <p:ext uri="{BB962C8B-B14F-4D97-AF65-F5344CB8AC3E}">
        <p14:creationId xmlns:p14="http://schemas.microsoft.com/office/powerpoint/2010/main" val="394603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To start with, put your hand up if you think exercise is important. </a:t>
            </a:r>
          </a:p>
          <a:p>
            <a:r>
              <a:rPr lang="en-NZ" dirty="0" smtClean="0"/>
              <a:t>Can you give me</a:t>
            </a:r>
            <a:r>
              <a:rPr lang="en-NZ" baseline="0" dirty="0" smtClean="0"/>
              <a:t> one reason why it’s important to you?</a:t>
            </a:r>
          </a:p>
          <a:p>
            <a:endParaRPr lang="en-NZ" baseline="0" dirty="0" smtClean="0"/>
          </a:p>
          <a:p>
            <a:r>
              <a:rPr lang="en-NZ" baseline="0" dirty="0" smtClean="0"/>
              <a:t>Awesome. You’ve brought up some amazing personal reasons to why exercise is important and beneficial, so let’s dig deeper.</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2</a:t>
            </a:fld>
            <a:endParaRPr lang="en-NZ"/>
          </a:p>
        </p:txBody>
      </p:sp>
    </p:spTree>
    <p:extLst>
      <p:ext uri="{BB962C8B-B14F-4D97-AF65-F5344CB8AC3E}">
        <p14:creationId xmlns:p14="http://schemas.microsoft.com/office/powerpoint/2010/main" val="244083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We</a:t>
            </a:r>
            <a:r>
              <a:rPr lang="en-NZ" baseline="0" dirty="0" smtClean="0"/>
              <a:t> all know deep down that not moving isn’t any good for us, however this is a cycle that we often get ourselves into.</a:t>
            </a:r>
          </a:p>
          <a:p>
            <a:endParaRPr lang="en-NZ" baseline="0" dirty="0" smtClean="0"/>
          </a:p>
          <a:p>
            <a:r>
              <a:rPr lang="en-NZ" baseline="0" dirty="0" smtClean="0"/>
              <a:t>When you have a lung condition, usually the starting point is that you feel breathless, and because of that you stop doing activities that make you breathless- you do less- you think it’s good but then your muscles weaken without you noticing, and your body actually gets worse rather than gets better. And the cycle goes on. </a:t>
            </a:r>
          </a:p>
          <a:p>
            <a:endParaRPr lang="en-NZ" baseline="0" dirty="0" smtClean="0"/>
          </a:p>
          <a:p>
            <a:r>
              <a:rPr lang="en-NZ" baseline="0" dirty="0" smtClean="0"/>
              <a:t>I know that it’s even more difficult after an exacerbation/chest infection leading to a hospital admission. But there is good news, we can break this cycle through exercise. </a:t>
            </a:r>
            <a:r>
              <a:rPr lang="en-NZ" baseline="0" dirty="0" smtClean="0">
                <a:sym typeface="Wingdings" panose="05000000000000000000" pitchFamily="2" charset="2"/>
              </a:rPr>
              <a:t></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3</a:t>
            </a:fld>
            <a:endParaRPr lang="en-NZ"/>
          </a:p>
        </p:txBody>
      </p:sp>
    </p:spTree>
    <p:extLst>
      <p:ext uri="{BB962C8B-B14F-4D97-AF65-F5344CB8AC3E}">
        <p14:creationId xmlns:p14="http://schemas.microsoft.com/office/powerpoint/2010/main" val="4164707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So, Why do we exercise? Great question.</a:t>
            </a:r>
          </a:p>
          <a:p>
            <a:endParaRPr lang="en-NZ" dirty="0" smtClean="0"/>
          </a:p>
          <a:p>
            <a:r>
              <a:rPr lang="en-NZ" dirty="0" smtClean="0"/>
              <a:t>While</a:t>
            </a:r>
            <a:r>
              <a:rPr lang="en-NZ" baseline="0" dirty="0" smtClean="0"/>
              <a:t> we were young, our body didn’t get tired </a:t>
            </a:r>
            <a:r>
              <a:rPr lang="en-NZ" baseline="0" smtClean="0"/>
              <a:t>from doing simple </a:t>
            </a:r>
            <a:r>
              <a:rPr lang="en-NZ" baseline="0" dirty="0" smtClean="0"/>
              <a:t>daily activities like walking around the shops, taking a shower, or walking the dog. We used to be able to do a lot of things without hassle and without even having to think about it much. </a:t>
            </a:r>
          </a:p>
          <a:p>
            <a:endParaRPr lang="en-NZ"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NZ" baseline="0" dirty="0" smtClean="0"/>
              <a:t>As we get older, have a look at this image. As you can see here (the dark space is muscle and the white space is fat), our muscles actually shrink and get weaker as we age. </a:t>
            </a:r>
          </a:p>
          <a:p>
            <a:endParaRPr lang="en-NZ" baseline="0" dirty="0" smtClean="0"/>
          </a:p>
          <a:p>
            <a:r>
              <a:rPr lang="en-NZ" baseline="0" dirty="0" smtClean="0"/>
              <a:t>However, if we look to the last image, this is a scan of a person who though has aged, remained active. You can see that the muscles did not shrink as much as the other one did. </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4</a:t>
            </a:fld>
            <a:endParaRPr lang="en-NZ"/>
          </a:p>
        </p:txBody>
      </p:sp>
    </p:spTree>
    <p:extLst>
      <p:ext uri="{BB962C8B-B14F-4D97-AF65-F5344CB8AC3E}">
        <p14:creationId xmlns:p14="http://schemas.microsoft.com/office/powerpoint/2010/main" val="2671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There’s a lot of good things that exercise can do to our bodies.</a:t>
            </a:r>
          </a:p>
          <a:p>
            <a:r>
              <a:rPr lang="en-NZ" dirty="0" smtClean="0"/>
              <a:t>Makes heart more efficient with doing it’s job</a:t>
            </a:r>
            <a:r>
              <a:rPr lang="en-NZ" baseline="0" dirty="0" smtClean="0"/>
              <a:t> because the heart too is a muscle</a:t>
            </a:r>
            <a:endParaRPr lang="en-NZ" dirty="0" smtClean="0"/>
          </a:p>
        </p:txBody>
      </p:sp>
      <p:sp>
        <p:nvSpPr>
          <p:cNvPr id="4" name="Slide Number Placeholder 3"/>
          <p:cNvSpPr>
            <a:spLocks noGrp="1"/>
          </p:cNvSpPr>
          <p:nvPr>
            <p:ph type="sldNum" sz="quarter" idx="10"/>
          </p:nvPr>
        </p:nvSpPr>
        <p:spPr/>
        <p:txBody>
          <a:bodyPr/>
          <a:lstStyle/>
          <a:p>
            <a:fld id="{4B93D9BE-F4CD-4128-BEDF-9EC8B3D132FC}" type="slidenum">
              <a:rPr lang="en-NZ" smtClean="0"/>
              <a:t>5</a:t>
            </a:fld>
            <a:endParaRPr lang="en-NZ"/>
          </a:p>
        </p:txBody>
      </p:sp>
    </p:spTree>
    <p:extLst>
      <p:ext uri="{BB962C8B-B14F-4D97-AF65-F5344CB8AC3E}">
        <p14:creationId xmlns:p14="http://schemas.microsoft.com/office/powerpoint/2010/main" val="2042611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Lessens </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6</a:t>
            </a:fld>
            <a:endParaRPr lang="en-NZ"/>
          </a:p>
        </p:txBody>
      </p:sp>
    </p:spTree>
    <p:extLst>
      <p:ext uri="{BB962C8B-B14F-4D97-AF65-F5344CB8AC3E}">
        <p14:creationId xmlns:p14="http://schemas.microsoft.com/office/powerpoint/2010/main" val="1019494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dirty="0" smtClean="0"/>
              <a:t>Exercise is not only</a:t>
            </a:r>
            <a:r>
              <a:rPr lang="en-NZ" baseline="0" dirty="0" smtClean="0"/>
              <a:t> </a:t>
            </a:r>
            <a:r>
              <a:rPr lang="en-NZ" dirty="0" smtClean="0"/>
              <a:t>good for the body but it’s also good for the mind because it’s all connected.</a:t>
            </a:r>
          </a:p>
          <a:p>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7</a:t>
            </a:fld>
            <a:endParaRPr lang="en-NZ"/>
          </a:p>
        </p:txBody>
      </p:sp>
    </p:spTree>
    <p:extLst>
      <p:ext uri="{BB962C8B-B14F-4D97-AF65-F5344CB8AC3E}">
        <p14:creationId xmlns:p14="http://schemas.microsoft.com/office/powerpoint/2010/main" val="1013080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There is a lot of benefits</a:t>
            </a:r>
            <a:r>
              <a:rPr lang="en-NZ" baseline="0" dirty="0" smtClean="0"/>
              <a:t> to exercise. Now let’s talk about how to exercise using the FITT principle. There is such thing as not enough, as well as too much so this is a good guideline of exercising.</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8</a:t>
            </a:fld>
            <a:endParaRPr lang="en-NZ"/>
          </a:p>
        </p:txBody>
      </p:sp>
    </p:spTree>
    <p:extLst>
      <p:ext uri="{BB962C8B-B14F-4D97-AF65-F5344CB8AC3E}">
        <p14:creationId xmlns:p14="http://schemas.microsoft.com/office/powerpoint/2010/main" val="2035424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Good to keep a routine going, if you are a morning person,</a:t>
            </a:r>
            <a:r>
              <a:rPr lang="en-NZ" baseline="0" dirty="0" smtClean="0"/>
              <a:t> do exercises in the mornings on the days you do them and if not, then do it in the afternoon.</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9</a:t>
            </a:fld>
            <a:endParaRPr lang="en-NZ"/>
          </a:p>
        </p:txBody>
      </p:sp>
    </p:spTree>
    <p:extLst>
      <p:ext uri="{BB962C8B-B14F-4D97-AF65-F5344CB8AC3E}">
        <p14:creationId xmlns:p14="http://schemas.microsoft.com/office/powerpoint/2010/main" val="333868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There are many reasons why exercise is</a:t>
            </a:r>
            <a:r>
              <a:rPr lang="en-NZ" baseline="0" dirty="0" smtClean="0"/>
              <a:t> so beneficial to us. It affects both our body and mind positively. Being more active improves our overall confidence and ability to continue completing daily activities safely and engaging in activities we enjoy. Start slowly, and progress as you go. At the end of the day, remember that something is better than nothing and that actually not doing anything</a:t>
            </a:r>
            <a:r>
              <a:rPr lang="en-NZ" sz="1200" b="0" i="1" u="none" strike="noStrike" kern="1200" baseline="0" dirty="0" smtClean="0">
                <a:solidFill>
                  <a:schemeClr val="tx1"/>
                </a:solidFill>
                <a:latin typeface="+mn-lt"/>
                <a:ea typeface="+mn-ea"/>
                <a:cs typeface="+mn-cs"/>
              </a:rPr>
              <a:t> is more dangerous than engaging in physical activity.</a:t>
            </a:r>
          </a:p>
          <a:p>
            <a:endParaRPr lang="en-NZ" sz="1200" b="0" i="1" u="none" strike="noStrike" kern="1200" baseline="0" dirty="0" smtClean="0">
              <a:solidFill>
                <a:schemeClr val="tx1"/>
              </a:solidFill>
              <a:latin typeface="+mn-lt"/>
              <a:ea typeface="+mn-ea"/>
              <a:cs typeface="+mn-cs"/>
            </a:endParaRPr>
          </a:p>
          <a:p>
            <a:r>
              <a:rPr lang="en-NZ" sz="1200" b="0" i="1" u="none" strike="noStrike" kern="1200" baseline="0" dirty="0" smtClean="0">
                <a:solidFill>
                  <a:schemeClr val="tx1"/>
                </a:solidFill>
                <a:latin typeface="+mn-lt"/>
                <a:ea typeface="+mn-ea"/>
                <a:cs typeface="+mn-cs"/>
              </a:rPr>
              <a:t>Important to do exercise as well as being consistent in it and moving throughout the day.</a:t>
            </a:r>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15</a:t>
            </a:fld>
            <a:endParaRPr lang="en-NZ"/>
          </a:p>
        </p:txBody>
      </p:sp>
    </p:spTree>
    <p:extLst>
      <p:ext uri="{BB962C8B-B14F-4D97-AF65-F5344CB8AC3E}">
        <p14:creationId xmlns:p14="http://schemas.microsoft.com/office/powerpoint/2010/main" val="2835912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sz="1200" dirty="0" smtClean="0">
                <a:latin typeface="Arial Narrow" panose="020B0606020202030204" pitchFamily="34" charset="0"/>
              </a:rPr>
              <a:t>(even if it means a 5 minute walk along your hall at home)</a:t>
            </a:r>
          </a:p>
          <a:p>
            <a:r>
              <a:rPr lang="en-NZ" baseline="0" dirty="0" smtClean="0"/>
              <a:t>a mixture of both cardio and strengthening exercises/activities you enjoy that gets your heart pumping</a:t>
            </a:r>
          </a:p>
          <a:p>
            <a:r>
              <a:rPr lang="en-NZ" baseline="0" dirty="0" smtClean="0"/>
              <a:t>Start slowly, and progress as you go. </a:t>
            </a:r>
          </a:p>
          <a:p>
            <a:pPr marL="0" marR="0" indent="0" algn="l" defTabSz="914400" rtl="0" eaLnBrk="1" fontAlgn="auto" latinLnBrk="0" hangingPunct="1">
              <a:lnSpc>
                <a:spcPct val="100000"/>
              </a:lnSpc>
              <a:spcBef>
                <a:spcPts val="0"/>
              </a:spcBef>
              <a:spcAft>
                <a:spcPts val="0"/>
              </a:spcAft>
              <a:buClrTx/>
              <a:buSzTx/>
              <a:buFontTx/>
              <a:buNone/>
              <a:tabLst/>
              <a:defRPr/>
            </a:pPr>
            <a:r>
              <a:rPr lang="en-NZ" baseline="0" smtClean="0"/>
              <a:t>At the end of the day, remember that something is better than nothing and that actually not doing anything</a:t>
            </a:r>
            <a:r>
              <a:rPr lang="en-NZ" sz="1200" b="0" i="1" u="none" strike="noStrike" kern="1200" baseline="0" smtClean="0">
                <a:solidFill>
                  <a:schemeClr val="tx1"/>
                </a:solidFill>
                <a:latin typeface="+mn-lt"/>
                <a:ea typeface="+mn-ea"/>
                <a:cs typeface="+mn-cs"/>
              </a:rPr>
              <a:t> is more dangerous than engaging in physical activity.</a:t>
            </a:r>
          </a:p>
          <a:p>
            <a:endParaRPr lang="en-NZ" dirty="0"/>
          </a:p>
        </p:txBody>
      </p:sp>
      <p:sp>
        <p:nvSpPr>
          <p:cNvPr id="4" name="Slide Number Placeholder 3"/>
          <p:cNvSpPr>
            <a:spLocks noGrp="1"/>
          </p:cNvSpPr>
          <p:nvPr>
            <p:ph type="sldNum" sz="quarter" idx="10"/>
          </p:nvPr>
        </p:nvSpPr>
        <p:spPr/>
        <p:txBody>
          <a:bodyPr/>
          <a:lstStyle/>
          <a:p>
            <a:fld id="{4B93D9BE-F4CD-4128-BEDF-9EC8B3D132FC}" type="slidenum">
              <a:rPr lang="en-NZ" smtClean="0"/>
              <a:t>16</a:t>
            </a:fld>
            <a:endParaRPr lang="en-NZ"/>
          </a:p>
        </p:txBody>
      </p:sp>
    </p:spTree>
    <p:extLst>
      <p:ext uri="{BB962C8B-B14F-4D97-AF65-F5344CB8AC3E}">
        <p14:creationId xmlns:p14="http://schemas.microsoft.com/office/powerpoint/2010/main" val="1127312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83240572-45D7-4872-B771-62BDF9A3D105}" type="datetimeFigureOut">
              <a:rPr lang="en-NZ" smtClean="0"/>
              <a:t>16/02/2022</a:t>
            </a:fld>
            <a:endParaRPr lang="en-NZ"/>
          </a:p>
        </p:txBody>
      </p:sp>
      <p:sp>
        <p:nvSpPr>
          <p:cNvPr id="17" name="Footer Placeholder 16"/>
          <p:cNvSpPr>
            <a:spLocks noGrp="1"/>
          </p:cNvSpPr>
          <p:nvPr>
            <p:ph type="ftr" sz="quarter" idx="11"/>
          </p:nvPr>
        </p:nvSpPr>
        <p:spPr/>
        <p:txBody>
          <a:bodyPr/>
          <a:lstStyle/>
          <a:p>
            <a:endParaRPr lang="en-NZ"/>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4E31D0D8-3953-474A-99F9-69BAFF9391C0}" type="slidenum">
              <a:rPr lang="en-NZ" smtClean="0"/>
              <a:t>‹#›</a:t>
            </a:fld>
            <a:endParaRPr lang="en-NZ"/>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3240572-45D7-4872-B771-62BDF9A3D105}" type="datetimeFigureOut">
              <a:rPr lang="en-NZ" smtClean="0"/>
              <a:t>16/02/2022</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a:xfrm>
            <a:off x="4361688" y="1026372"/>
            <a:ext cx="457200" cy="441325"/>
          </a:xfrm>
        </p:spPr>
        <p:txBody>
          <a:bodyPr/>
          <a:lstStyle/>
          <a:p>
            <a:fld id="{4E31D0D8-3953-474A-99F9-69BAFF9391C0}" type="slidenum">
              <a:rPr lang="en-NZ" smtClean="0"/>
              <a:t>‹#›</a:t>
            </a:fld>
            <a:endParaRPr lang="en-NZ"/>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NZ"/>
          </a:p>
        </p:txBody>
      </p:sp>
      <p:sp>
        <p:nvSpPr>
          <p:cNvPr id="4" name="Date Placeholder 3"/>
          <p:cNvSpPr>
            <a:spLocks noGrp="1"/>
          </p:cNvSpPr>
          <p:nvPr>
            <p:ph type="dt" sz="half" idx="10"/>
          </p:nvPr>
        </p:nvSpPr>
        <p:spPr/>
        <p:txBody>
          <a:bodyPr/>
          <a:lstStyle/>
          <a:p>
            <a:fld id="{83240572-45D7-4872-B771-62BDF9A3D105}" type="datetimeFigureOut">
              <a:rPr lang="en-NZ" smtClean="0"/>
              <a:t>16/02/2022</a:t>
            </a:fld>
            <a:endParaRPr lang="en-NZ"/>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4E31D0D8-3953-474A-99F9-69BAFF9391C0}" type="slidenum">
              <a:rPr lang="en-NZ" smtClean="0"/>
              <a:t>‹#›</a:t>
            </a:fld>
            <a:endParaRPr lang="en-NZ"/>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83240572-45D7-4872-B771-62BDF9A3D105}" type="datetimeFigureOut">
              <a:rPr lang="en-NZ" smtClean="0"/>
              <a:t>16/02/2022</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4E31D0D8-3953-474A-99F9-69BAFF9391C0}" type="slidenum">
              <a:rPr lang="en-NZ" smtClean="0"/>
              <a:t>‹#›</a:t>
            </a:fld>
            <a:endParaRPr lang="en-NZ"/>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3240572-45D7-4872-B771-62BDF9A3D105}" type="datetimeFigureOut">
              <a:rPr lang="en-NZ" smtClean="0"/>
              <a:t>16/02/2022</a:t>
            </a:fld>
            <a:endParaRPr lang="en-NZ"/>
          </a:p>
        </p:txBody>
      </p:sp>
      <p:sp>
        <p:nvSpPr>
          <p:cNvPr id="8" name="Footer Placeholder 7"/>
          <p:cNvSpPr>
            <a:spLocks noGrp="1"/>
          </p:cNvSpPr>
          <p:nvPr>
            <p:ph type="ftr" sz="quarter" idx="11"/>
          </p:nvPr>
        </p:nvSpPr>
        <p:spPr>
          <a:xfrm>
            <a:off x="304800" y="6409944"/>
            <a:ext cx="3581400" cy="365760"/>
          </a:xfrm>
        </p:spPr>
        <p:txBody>
          <a:bodyPr/>
          <a:lstStyle/>
          <a:p>
            <a:endParaRPr lang="en-NZ"/>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4E31D0D8-3953-474A-99F9-69BAFF9391C0}" type="slidenum">
              <a:rPr lang="en-NZ" smtClean="0"/>
              <a:t>‹#›</a:t>
            </a:fld>
            <a:endParaRPr lang="en-NZ"/>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3240572-45D7-4872-B771-62BDF9A3D105}" type="datetimeFigureOut">
              <a:rPr lang="en-NZ" smtClean="0"/>
              <a:t>16/02/2022</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a:xfrm>
            <a:off x="4343400" y="1036020"/>
            <a:ext cx="457200" cy="441325"/>
          </a:xfrm>
        </p:spPr>
        <p:txBody>
          <a:bodyPr/>
          <a:lstStyle/>
          <a:p>
            <a:fld id="{4E31D0D8-3953-474A-99F9-69BAFF9391C0}" type="slidenum">
              <a:rPr lang="en-NZ" smtClean="0"/>
              <a:t>‹#›</a:t>
            </a:fld>
            <a:endParaRPr lang="en-NZ"/>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83240572-45D7-4872-B771-62BDF9A3D105}" type="datetimeFigureOut">
              <a:rPr lang="en-NZ" smtClean="0"/>
              <a:t>16/02/2022</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4E31D0D8-3953-474A-99F9-69BAFF9391C0}" type="slidenum">
              <a:rPr lang="en-NZ" smtClean="0"/>
              <a:t>‹#›</a:t>
            </a:fld>
            <a:endParaRPr lang="en-NZ"/>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4E31D0D8-3953-474A-99F9-69BAFF9391C0}" type="slidenum">
              <a:rPr lang="en-NZ" smtClean="0"/>
              <a:t>‹#›</a:t>
            </a:fld>
            <a:endParaRPr lang="en-NZ"/>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83240572-45D7-4872-B771-62BDF9A3D105}" type="datetimeFigureOut">
              <a:rPr lang="en-NZ" smtClean="0"/>
              <a:t>16/02/2022</a:t>
            </a:fld>
            <a:endParaRPr lang="en-NZ"/>
          </a:p>
        </p:txBody>
      </p:sp>
      <p:sp>
        <p:nvSpPr>
          <p:cNvPr id="6" name="Footer Placeholder 5"/>
          <p:cNvSpPr>
            <a:spLocks noGrp="1"/>
          </p:cNvSpPr>
          <p:nvPr>
            <p:ph type="ftr" sz="quarter" idx="11"/>
          </p:nvPr>
        </p:nvSpPr>
        <p:spPr>
          <a:xfrm>
            <a:off x="301752" y="6410848"/>
            <a:ext cx="3383280" cy="365760"/>
          </a:xfrm>
        </p:spPr>
        <p:txBody>
          <a:bodyPr/>
          <a:lstStyle/>
          <a:p>
            <a:endParaRPr lang="en-NZ"/>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4E31D0D8-3953-474A-99F9-69BAFF9391C0}" type="slidenum">
              <a:rPr lang="en-NZ" smtClean="0"/>
              <a:t>‹#›</a:t>
            </a:fld>
            <a:endParaRPr lang="en-NZ"/>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83240572-45D7-4872-B771-62BDF9A3D105}" type="datetimeFigureOut">
              <a:rPr lang="en-NZ" smtClean="0"/>
              <a:t>16/02/2022</a:t>
            </a:fld>
            <a:endParaRPr lang="en-NZ"/>
          </a:p>
        </p:txBody>
      </p:sp>
      <p:sp>
        <p:nvSpPr>
          <p:cNvPr id="6" name="Footer Placeholder 5"/>
          <p:cNvSpPr>
            <a:spLocks noGrp="1"/>
          </p:cNvSpPr>
          <p:nvPr>
            <p:ph type="ftr" sz="quarter" idx="11"/>
          </p:nvPr>
        </p:nvSpPr>
        <p:spPr>
          <a:xfrm>
            <a:off x="301752" y="6410848"/>
            <a:ext cx="3584448" cy="365760"/>
          </a:xfrm>
        </p:spPr>
        <p:txBody>
          <a:bodyPr/>
          <a:lstStyle/>
          <a:p>
            <a:endParaRPr lang="en-NZ"/>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240572-45D7-4872-B771-62BDF9A3D105}" type="datetimeFigureOut">
              <a:rPr lang="en-NZ" smtClean="0"/>
              <a:t>16/02/2022</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E31D0D8-3953-474A-99F9-69BAFF9391C0}" type="slidenum">
              <a:rPr lang="en-NZ" smtClean="0"/>
              <a:t>‹#›</a:t>
            </a:fld>
            <a:endParaRPr lang="en-NZ"/>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4E31D0D8-3953-474A-99F9-69BAFF9391C0}" type="slidenum">
              <a:rPr lang="en-NZ" smtClean="0"/>
              <a:t>‹#›</a:t>
            </a:fld>
            <a:endParaRPr lang="en-NZ"/>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240572-45D7-4872-B771-62BDF9A3D105}" type="datetimeFigureOut">
              <a:rPr lang="en-NZ" smtClean="0"/>
              <a:t>16/02/2022</a:t>
            </a:fld>
            <a:endParaRPr lang="en-NZ"/>
          </a:p>
        </p:txBody>
      </p:sp>
      <p:sp>
        <p:nvSpPr>
          <p:cNvPr id="5" name="Footer Placeholder 4"/>
          <p:cNvSpPr>
            <a:spLocks noGrp="1"/>
          </p:cNvSpPr>
          <p:nvPr>
            <p:ph type="ftr" sz="quarter" idx="11"/>
          </p:nvPr>
        </p:nvSpPr>
        <p:spPr/>
        <p:txBody>
          <a:bodyPr/>
          <a:lstStyle/>
          <a:p>
            <a:endParaRPr lang="en-NZ"/>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83240572-45D7-4872-B771-62BDF9A3D105}" type="datetimeFigureOut">
              <a:rPr lang="en-NZ" smtClean="0"/>
              <a:t>16/02/2022</a:t>
            </a:fld>
            <a:endParaRPr lang="en-NZ"/>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NZ"/>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4E31D0D8-3953-474A-99F9-69BAFF9391C0}" type="slidenum">
              <a:rPr lang="en-NZ" smtClean="0"/>
              <a:t>‹#›</a:t>
            </a:fld>
            <a:endParaRPr lang="en-NZ"/>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url?sa=i&amp;url=https://www.aircycle.co.nz/older-adults-exercise-important/&amp;psig=AOvVaw2sXA8cV8uJ0CI08CyUZVvz&amp;ust=1611803383539000&amp;source=images&amp;cd=vfe&amp;ved=0CAIQjRxqFwoTCLjNw9uRu-4CFQAAAAAdAAAAABA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url?sa=i&amp;url=https://khni.kerry.com/news/maintaining-healthy-muscles-and-mobility-during-social-distancing/&amp;psig=AOvVaw0SVu0TFiJya2eML-dEHD6H&amp;ust=1611802753105000&amp;source=images&amp;cd=vfe&amp;ved=0CAIQjRxqFwoTCKjS8K2Pu-4CFQAAAAAdAAAAABA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url?sa=i&amp;url=https://www.dreamstime.com/illustration/elderly-happy-woman-full-body-isolated.html&amp;psig=AOvVaw3F033W0MIJg-yhbxdpt4vo&amp;ust=1611805808393000&amp;source=images&amp;cd=vfe&amp;ved=0CAIQjRxqFwoTCMiBrZCbu-4CFQAAAAAdAAAAABAD"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url?sa=i&amp;url=https://www.123rf.com/photo_98575076_stock-vector-senior-to-do-dumbbell-exercises.html&amp;psig=AOvVaw1q4kjMRGlTrU1_i0rZYPmr&amp;ust=1611809222161000&amp;source=images&amp;cd=vfe&amp;ved=0CAIQjRxqFwoTCIi90LSnu-4CFQAAAAAdAAAAABAI"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url?sa=i&amp;url=https://webstockreview.net/image/mind-clipart-clear-mind/2968747.html&amp;psig=AOvVaw1tR-M_2kKuCruJ05pPljBn&amp;ust=1611809117752000&amp;source=images&amp;cd=vfe&amp;ved=0CAIQjRxqFwoTCLCU-Ymnu-4CFQAAAAAdAAAAABAD"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url?sa=i&amp;url=https://pt.slideshare.net/matcabrera/fitt-principle/13&amp;psig=AOvVaw1MJ0lC2wL_5YJbY9YclAIY&amp;ust=1611803677003000&amp;source=images&amp;cd=vfe&amp;ved=0CAIQjRxqFwoTCIjmkOiSu-4CFQAAAAAdAAAAABAo"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google.com/url?sa=i&amp;url=https://solutionsreview.com/network-monitoring/9-critical-network-performance-questions-your-business-needs-to-ask/&amp;psig=AOvVaw39rhaQ7yBBgMa_z0WQhYAp&amp;ust=1611804566469000&amp;source=images&amp;cd=vfe&amp;ved=0CAIQjRxqFwoTCPjK-4mWu-4CFQAAAAAdAAAAABAD" TargetMode="External"/><Relationship Id="rId1" Type="http://schemas.openxmlformats.org/officeDocument/2006/relationships/slideLayout" Target="../slideLayouts/slideLayout1.xml"/><Relationship Id="rId4"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16632"/>
            <a:ext cx="7772400" cy="1752600"/>
          </a:xfrm>
        </p:spPr>
        <p:txBody>
          <a:bodyPr>
            <a:normAutofit/>
          </a:bodyPr>
          <a:lstStyle/>
          <a:p>
            <a:r>
              <a:rPr lang="en-NZ" sz="5400" b="1" dirty="0" smtClean="0">
                <a:solidFill>
                  <a:schemeClr val="tx2">
                    <a:lumMod val="75000"/>
                  </a:schemeClr>
                </a:solidFill>
                <a:latin typeface="Arial Narrow" panose="020B0606020202030204" pitchFamily="34" charset="0"/>
              </a:rPr>
              <a:t>BENEFITS  OF  EXERCISE</a:t>
            </a:r>
            <a:endParaRPr lang="en-NZ" sz="5400" b="1" dirty="0">
              <a:solidFill>
                <a:schemeClr val="tx2">
                  <a:lumMod val="75000"/>
                </a:schemeClr>
              </a:solidFill>
              <a:latin typeface="Arial Narrow" panose="020B0606020202030204" pitchFamily="34" charset="0"/>
            </a:endParaRPr>
          </a:p>
        </p:txBody>
      </p:sp>
      <p:pic>
        <p:nvPicPr>
          <p:cNvPr id="1028" name="Picture 4" descr="Use It or Lose It&quot; Exercise is Important for Seniors as We Age - Aircycl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2852936"/>
            <a:ext cx="4860538" cy="3240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9196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3528" y="1844824"/>
            <a:ext cx="8503920" cy="4572000"/>
          </a:xfrm>
        </p:spPr>
        <p:txBody>
          <a:bodyPr>
            <a:normAutofit/>
          </a:bodyPr>
          <a:lstStyle/>
          <a:p>
            <a:pPr marL="514350" indent="-514350">
              <a:buFont typeface="+mj-lt"/>
              <a:buAutoNum type="arabicPeriod"/>
            </a:pPr>
            <a:endParaRPr lang="en-NZ" altLang="en-US" sz="3600" dirty="0">
              <a:latin typeface="Arial Narrow" panose="020B0606020202030204" pitchFamily="34" charset="0"/>
            </a:endParaRPr>
          </a:p>
          <a:p>
            <a:pPr marL="0" indent="0" algn="ctr">
              <a:buNone/>
            </a:pPr>
            <a:r>
              <a:rPr lang="en-NZ" altLang="en-US" sz="4000" dirty="0" smtClean="0">
                <a:latin typeface="Arial Narrow" panose="020B0606020202030204" pitchFamily="34" charset="0"/>
              </a:rPr>
              <a:t>Is exercise/being active important? </a:t>
            </a:r>
          </a:p>
          <a:p>
            <a:pPr marL="0" indent="0" algn="ctr">
              <a:buNone/>
            </a:pPr>
            <a:r>
              <a:rPr lang="en-NZ" altLang="en-US" sz="4000" dirty="0" smtClean="0">
                <a:latin typeface="Arial Narrow" panose="020B0606020202030204" pitchFamily="34" charset="0"/>
              </a:rPr>
              <a:t>If so, why </a:t>
            </a:r>
            <a:r>
              <a:rPr lang="en-NZ" altLang="en-US" sz="4000" dirty="0">
                <a:latin typeface="Arial Narrow" panose="020B0606020202030204" pitchFamily="34" charset="0"/>
              </a:rPr>
              <a:t>is </a:t>
            </a:r>
            <a:r>
              <a:rPr lang="en-NZ" altLang="en-US" sz="4000" dirty="0" smtClean="0">
                <a:latin typeface="Arial Narrow" panose="020B0606020202030204" pitchFamily="34" charset="0"/>
              </a:rPr>
              <a:t>exercise/being active important to you?</a:t>
            </a:r>
            <a:endParaRPr lang="en-NZ" altLang="en-US" sz="4000" dirty="0">
              <a:latin typeface="Arial Narrow" panose="020B0606020202030204" pitchFamily="34" charset="0"/>
            </a:endParaRPr>
          </a:p>
          <a:p>
            <a:pPr marL="514350" indent="-514350">
              <a:buFont typeface="+mj-lt"/>
              <a:buAutoNum type="arabicPeriod"/>
            </a:pPr>
            <a:endParaRPr lang="en-NZ" altLang="en-US" sz="3600" dirty="0" smtClean="0">
              <a:latin typeface="Arial Narrow" panose="020B0606020202030204" pitchFamily="34" charset="0"/>
            </a:endParaRPr>
          </a:p>
        </p:txBody>
      </p:sp>
    </p:spTree>
    <p:extLst>
      <p:ext uri="{BB962C8B-B14F-4D97-AF65-F5344CB8AC3E}">
        <p14:creationId xmlns:p14="http://schemas.microsoft.com/office/powerpoint/2010/main" val="32184167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sz="4000" b="1" dirty="0" smtClean="0">
                <a:latin typeface="Arial Narrow" panose="020B0606020202030204" pitchFamily="34" charset="0"/>
              </a:rPr>
              <a:t>VICIOUS CYCLE OF INACTIVITY</a:t>
            </a:r>
            <a:endParaRPr lang="en-NZ" sz="4000" b="1" dirty="0">
              <a:latin typeface="Arial Narrow" panose="020B0606020202030204" pitchFamily="34" charset="0"/>
            </a:endParaRPr>
          </a:p>
        </p:txBody>
      </p:sp>
      <p:pic>
        <p:nvPicPr>
          <p:cNvPr id="9" name="Content Placeholder 8"/>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1835696" y="1628800"/>
            <a:ext cx="5472608" cy="4536504"/>
          </a:xfrm>
        </p:spPr>
      </p:pic>
    </p:spTree>
    <p:extLst>
      <p:ext uri="{BB962C8B-B14F-4D97-AF65-F5344CB8AC3E}">
        <p14:creationId xmlns:p14="http://schemas.microsoft.com/office/powerpoint/2010/main" val="1955411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NZ" sz="4400" b="1" dirty="0" smtClean="0">
                <a:latin typeface="Arial Narrow" panose="020B0606020202030204" pitchFamily="34" charset="0"/>
              </a:rPr>
              <a:t>WHY do we EXERCISE?</a:t>
            </a:r>
            <a:endParaRPr lang="en-NZ" sz="4400" b="1" dirty="0">
              <a:latin typeface="Arial Narrow" panose="020B0606020202030204" pitchFamily="34" charset="0"/>
            </a:endParaRPr>
          </a:p>
        </p:txBody>
      </p:sp>
      <p:sp>
        <p:nvSpPr>
          <p:cNvPr id="3" name="Content Placeholder 2"/>
          <p:cNvSpPr>
            <a:spLocks noGrp="1"/>
          </p:cNvSpPr>
          <p:nvPr>
            <p:ph sz="quarter" idx="1"/>
          </p:nvPr>
        </p:nvSpPr>
        <p:spPr/>
        <p:txBody>
          <a:bodyPr/>
          <a:lstStyle/>
          <a:p>
            <a:endParaRPr lang="en-NZ"/>
          </a:p>
        </p:txBody>
      </p:sp>
      <p:pic>
        <p:nvPicPr>
          <p:cNvPr id="4" name="Picture 2" descr="Maintaining Healthy Muscles and Mobility in Older Adults During Social  Distancing – Kerry Health And Nutrition Institut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343" y="1484784"/>
            <a:ext cx="8545129"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039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sz="4000" b="1" dirty="0">
                <a:latin typeface="Arial Narrow" panose="020B0606020202030204" pitchFamily="34" charset="0"/>
              </a:rPr>
              <a:t>Physical </a:t>
            </a:r>
            <a:r>
              <a:rPr lang="en-NZ" sz="4000" b="1" dirty="0" smtClean="0">
                <a:latin typeface="Arial Narrow" panose="020B0606020202030204" pitchFamily="34" charset="0"/>
              </a:rPr>
              <a:t>Benefits of Exercise</a:t>
            </a:r>
            <a:endParaRPr lang="en-NZ" sz="4000" dirty="0">
              <a:latin typeface="Arial Narrow" panose="020B0606020202030204" pitchFamily="34" charset="0"/>
            </a:endParaRPr>
          </a:p>
        </p:txBody>
      </p:sp>
      <p:sp>
        <p:nvSpPr>
          <p:cNvPr id="3" name="Content Placeholder 2"/>
          <p:cNvSpPr>
            <a:spLocks noGrp="1"/>
          </p:cNvSpPr>
          <p:nvPr>
            <p:ph sz="quarter" idx="1"/>
          </p:nvPr>
        </p:nvSpPr>
        <p:spPr>
          <a:xfrm>
            <a:off x="301752" y="1527048"/>
            <a:ext cx="8503920" cy="4422232"/>
          </a:xfrm>
        </p:spPr>
        <p:txBody>
          <a:bodyPr numCol="1">
            <a:noAutofit/>
          </a:bodyPr>
          <a:lstStyle/>
          <a:p>
            <a:pPr marL="0" indent="0">
              <a:buNone/>
            </a:pPr>
            <a:r>
              <a:rPr lang="en-NZ" sz="3000" dirty="0" smtClean="0">
                <a:latin typeface="Arial Narrow" panose="020B0606020202030204" pitchFamily="34" charset="0"/>
              </a:rPr>
              <a:t>• </a:t>
            </a:r>
            <a:r>
              <a:rPr lang="en-NZ" sz="3000" dirty="0">
                <a:latin typeface="Arial Narrow" panose="020B0606020202030204" pitchFamily="34" charset="0"/>
              </a:rPr>
              <a:t>Helps to </a:t>
            </a:r>
            <a:r>
              <a:rPr lang="en-NZ" sz="3000" b="1" dirty="0">
                <a:latin typeface="Arial Narrow" panose="020B0606020202030204" pitchFamily="34" charset="0"/>
              </a:rPr>
              <a:t>prevent </a:t>
            </a:r>
            <a:r>
              <a:rPr lang="en-NZ" sz="3000" dirty="0">
                <a:latin typeface="Arial Narrow" panose="020B0606020202030204" pitchFamily="34" charset="0"/>
              </a:rPr>
              <a:t>cardiovascular disease </a:t>
            </a:r>
          </a:p>
          <a:p>
            <a:pPr marL="0" indent="0">
              <a:buNone/>
            </a:pPr>
            <a:r>
              <a:rPr lang="en-NZ" sz="3000" dirty="0">
                <a:latin typeface="Arial Narrow" panose="020B0606020202030204" pitchFamily="34" charset="0"/>
              </a:rPr>
              <a:t>• Decreases </a:t>
            </a:r>
            <a:r>
              <a:rPr lang="en-NZ" sz="3000" b="1" dirty="0">
                <a:latin typeface="Arial Narrow" panose="020B0606020202030204" pitchFamily="34" charset="0"/>
              </a:rPr>
              <a:t>blood </a:t>
            </a:r>
            <a:r>
              <a:rPr lang="en-NZ" sz="3000" b="1" dirty="0" smtClean="0">
                <a:latin typeface="Arial Narrow" panose="020B0606020202030204" pitchFamily="34" charset="0"/>
              </a:rPr>
              <a:t>pressure </a:t>
            </a:r>
            <a:endParaRPr lang="en-NZ" sz="3000" b="1" dirty="0">
              <a:latin typeface="Arial Narrow" panose="020B0606020202030204" pitchFamily="34" charset="0"/>
            </a:endParaRPr>
          </a:p>
          <a:p>
            <a:pPr marL="0" indent="0">
              <a:buNone/>
            </a:pPr>
            <a:r>
              <a:rPr lang="en-NZ" sz="3000" dirty="0" smtClean="0">
                <a:latin typeface="Arial Narrow" panose="020B0606020202030204" pitchFamily="34" charset="0"/>
              </a:rPr>
              <a:t>• </a:t>
            </a:r>
            <a:r>
              <a:rPr lang="en-NZ" sz="3000" dirty="0">
                <a:latin typeface="Arial Narrow" panose="020B0606020202030204" pitchFamily="34" charset="0"/>
              </a:rPr>
              <a:t>Increases </a:t>
            </a:r>
            <a:r>
              <a:rPr lang="en-NZ" sz="3000" b="1" dirty="0">
                <a:latin typeface="Arial Narrow" panose="020B0606020202030204" pitchFamily="34" charset="0"/>
              </a:rPr>
              <a:t>bone density</a:t>
            </a:r>
            <a:r>
              <a:rPr lang="en-NZ" sz="3000" dirty="0">
                <a:latin typeface="Arial Narrow" panose="020B0606020202030204" pitchFamily="34" charset="0"/>
              </a:rPr>
              <a:t>, which may lead to a reduced risk for osteoporosis</a:t>
            </a:r>
          </a:p>
          <a:p>
            <a:pPr marL="0" indent="0">
              <a:buNone/>
            </a:pPr>
            <a:r>
              <a:rPr lang="en-NZ" sz="3000" dirty="0" smtClean="0">
                <a:latin typeface="Arial Narrow" panose="020B0606020202030204" pitchFamily="34" charset="0"/>
              </a:rPr>
              <a:t>• </a:t>
            </a:r>
            <a:r>
              <a:rPr lang="en-NZ" sz="3000" dirty="0">
                <a:latin typeface="Arial Narrow" panose="020B0606020202030204" pitchFamily="34" charset="0"/>
              </a:rPr>
              <a:t>Increases </a:t>
            </a:r>
            <a:r>
              <a:rPr lang="en-NZ" sz="3000" b="1" dirty="0">
                <a:latin typeface="Arial Narrow" panose="020B0606020202030204" pitchFamily="34" charset="0"/>
              </a:rPr>
              <a:t>strength</a:t>
            </a:r>
            <a:r>
              <a:rPr lang="en-NZ" sz="3000" dirty="0">
                <a:latin typeface="Arial Narrow" panose="020B0606020202030204" pitchFamily="34" charset="0"/>
              </a:rPr>
              <a:t> to help </a:t>
            </a:r>
            <a:r>
              <a:rPr lang="en-NZ" sz="3000" dirty="0" smtClean="0">
                <a:latin typeface="Arial Narrow" panose="020B0606020202030204" pitchFamily="34" charset="0"/>
              </a:rPr>
              <a:t>maintain </a:t>
            </a:r>
            <a:r>
              <a:rPr lang="en-NZ" sz="3000" dirty="0">
                <a:latin typeface="Arial Narrow" panose="020B0606020202030204" pitchFamily="34" charset="0"/>
              </a:rPr>
              <a:t>or </a:t>
            </a:r>
            <a:r>
              <a:rPr lang="en-NZ" sz="3000" dirty="0" smtClean="0">
                <a:latin typeface="Arial Narrow" panose="020B0606020202030204" pitchFamily="34" charset="0"/>
              </a:rPr>
              <a:t>increase </a:t>
            </a:r>
            <a:r>
              <a:rPr lang="en-NZ" sz="3000" b="1" dirty="0" smtClean="0">
                <a:latin typeface="Arial Narrow" panose="020B0606020202030204" pitchFamily="34" charset="0"/>
              </a:rPr>
              <a:t>independence</a:t>
            </a:r>
            <a:endParaRPr lang="en-NZ" sz="3000" b="1" dirty="0">
              <a:latin typeface="Arial Narrow" panose="020B0606020202030204" pitchFamily="34" charset="0"/>
            </a:endParaRPr>
          </a:p>
          <a:p>
            <a:pPr marL="0" indent="0">
              <a:buNone/>
            </a:pPr>
            <a:r>
              <a:rPr lang="en-NZ" sz="3000" dirty="0">
                <a:latin typeface="Arial Narrow" panose="020B0606020202030204" pitchFamily="34" charset="0"/>
              </a:rPr>
              <a:t>• Increases </a:t>
            </a:r>
            <a:r>
              <a:rPr lang="en-NZ" sz="3000" b="1" dirty="0">
                <a:latin typeface="Arial Narrow" panose="020B0606020202030204" pitchFamily="34" charset="0"/>
              </a:rPr>
              <a:t>energy</a:t>
            </a:r>
            <a:r>
              <a:rPr lang="en-NZ" sz="3000" dirty="0">
                <a:latin typeface="Arial Narrow" panose="020B0606020202030204" pitchFamily="34" charset="0"/>
              </a:rPr>
              <a:t> </a:t>
            </a:r>
            <a:endParaRPr lang="en-NZ" sz="3000" dirty="0" smtClean="0">
              <a:latin typeface="Arial Narrow" panose="020B0606020202030204" pitchFamily="34" charset="0"/>
            </a:endParaRPr>
          </a:p>
          <a:p>
            <a:pPr marL="0" indent="0">
              <a:buNone/>
            </a:pPr>
            <a:r>
              <a:rPr lang="en-NZ" sz="3000" dirty="0" smtClean="0">
                <a:latin typeface="Arial Narrow" panose="020B0606020202030204" pitchFamily="34" charset="0"/>
              </a:rPr>
              <a:t>(</a:t>
            </a:r>
            <a:r>
              <a:rPr lang="en-NZ" sz="3000" dirty="0">
                <a:latin typeface="Arial Narrow" panose="020B0606020202030204" pitchFamily="34" charset="0"/>
              </a:rPr>
              <a:t>playing with grandchildren, walking the dog) </a:t>
            </a:r>
            <a:endParaRPr lang="en-NZ" sz="3000" dirty="0" smtClean="0">
              <a:latin typeface="Arial Narrow" panose="020B0606020202030204" pitchFamily="34" charset="0"/>
            </a:endParaRPr>
          </a:p>
          <a:p>
            <a:pPr marL="0" indent="0">
              <a:buNone/>
            </a:pPr>
            <a:endParaRPr lang="en-NZ" sz="3000" dirty="0">
              <a:latin typeface="Arial Narrow" panose="020B0606020202030204" pitchFamily="34" charset="0"/>
            </a:endParaRPr>
          </a:p>
        </p:txBody>
      </p:sp>
      <p:sp>
        <p:nvSpPr>
          <p:cNvPr id="4" name="AutoShape 2" descr="Elderly Happy Woman Full Body Isolated Stock Illustrations – 22 Elderly  Happy Woman Full Body Isolated Stock Illustrations, Vectors &amp; Clipart -  Dreamstime"/>
          <p:cNvSpPr>
            <a:spLocks noChangeAspect="1" noChangeArrowheads="1"/>
          </p:cNvSpPr>
          <p:nvPr/>
        </p:nvSpPr>
        <p:spPr bwMode="auto">
          <a:xfrm>
            <a:off x="63500" y="-136525"/>
            <a:ext cx="1714500"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pic>
        <p:nvPicPr>
          <p:cNvPr id="12292" name="Picture 4" descr="Elderly Happy Woman Full Body Isolated Stock Illustrations – 22 Elderly  Happy Woman Full Body Isolated Stock Illustrations, Vectors &amp; Clipart -  Dreamstime">
            <a:hlinkClick r:id="rId3"/>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5375" b="90000" l="4750" r="90000">
                        <a14:foregroundMark x1="52375" y1="16750" x2="52375" y2="16750"/>
                        <a14:foregroundMark x1="48625" y1="17750" x2="48625" y2="17750"/>
                        <a14:foregroundMark x1="44500" y1="19875" x2="44500" y2="19875"/>
                        <a14:foregroundMark x1="52375" y1="19875" x2="52375" y2="19875"/>
                        <a14:foregroundMark x1="47125" y1="16125" x2="47125" y2="16125"/>
                      </a14:backgroundRemoval>
                    </a14:imgEffect>
                  </a14:imgLayer>
                </a14:imgProps>
              </a:ext>
              <a:ext uri="{28A0092B-C50C-407E-A947-70E740481C1C}">
                <a14:useLocalDpi xmlns:a14="http://schemas.microsoft.com/office/drawing/2010/main" val="0"/>
              </a:ext>
            </a:extLst>
          </a:blip>
          <a:srcRect/>
          <a:stretch>
            <a:fillRect/>
          </a:stretch>
        </p:blipFill>
        <p:spPr bwMode="auto">
          <a:xfrm>
            <a:off x="6084168" y="3185592"/>
            <a:ext cx="3672408" cy="367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9061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1484784"/>
            <a:ext cx="8568952" cy="3554819"/>
          </a:xfrm>
          <a:prstGeom prst="rect">
            <a:avLst/>
          </a:prstGeom>
        </p:spPr>
        <p:txBody>
          <a:bodyPr wrap="square">
            <a:spAutoFit/>
          </a:bodyPr>
          <a:lstStyle/>
          <a:p>
            <a:pPr>
              <a:lnSpc>
                <a:spcPct val="150000"/>
              </a:lnSpc>
            </a:pPr>
            <a:r>
              <a:rPr lang="en-NZ" sz="3000" dirty="0" smtClean="0">
                <a:latin typeface="Arial Narrow" panose="020B0606020202030204" pitchFamily="34" charset="0"/>
              </a:rPr>
              <a:t>• Increases </a:t>
            </a:r>
            <a:r>
              <a:rPr lang="en-NZ" sz="3000" b="1" dirty="0" smtClean="0">
                <a:latin typeface="Arial Narrow" panose="020B0606020202030204" pitchFamily="34" charset="0"/>
              </a:rPr>
              <a:t>balance</a:t>
            </a:r>
            <a:r>
              <a:rPr lang="en-NZ" sz="3000" dirty="0" smtClean="0">
                <a:latin typeface="Arial Narrow" panose="020B0606020202030204" pitchFamily="34" charset="0"/>
              </a:rPr>
              <a:t>, which may reduce the risk of falls or reduce the severity of a fall</a:t>
            </a:r>
          </a:p>
          <a:p>
            <a:pPr>
              <a:lnSpc>
                <a:spcPct val="150000"/>
              </a:lnSpc>
            </a:pPr>
            <a:r>
              <a:rPr lang="en-NZ" sz="3000" dirty="0" smtClean="0">
                <a:latin typeface="Arial Narrow" panose="020B0606020202030204" pitchFamily="34" charset="0"/>
              </a:rPr>
              <a:t>• Decreases fat, increases </a:t>
            </a:r>
            <a:r>
              <a:rPr lang="en-NZ" sz="3000" b="1" dirty="0" smtClean="0">
                <a:latin typeface="Arial Narrow" panose="020B0606020202030204" pitchFamily="34" charset="0"/>
              </a:rPr>
              <a:t>muscle mass</a:t>
            </a:r>
          </a:p>
          <a:p>
            <a:pPr>
              <a:lnSpc>
                <a:spcPct val="150000"/>
              </a:lnSpc>
            </a:pPr>
            <a:r>
              <a:rPr lang="en-NZ" sz="3000" dirty="0" smtClean="0">
                <a:latin typeface="Arial Narrow" panose="020B0606020202030204" pitchFamily="34" charset="0"/>
              </a:rPr>
              <a:t>• Decreases risk of injury and enhances </a:t>
            </a:r>
            <a:r>
              <a:rPr lang="en-NZ" sz="3000" b="1" dirty="0" smtClean="0">
                <a:latin typeface="Arial Narrow" panose="020B0606020202030204" pitchFamily="34" charset="0"/>
              </a:rPr>
              <a:t>immune function</a:t>
            </a:r>
          </a:p>
          <a:p>
            <a:pPr>
              <a:lnSpc>
                <a:spcPct val="150000"/>
              </a:lnSpc>
            </a:pPr>
            <a:r>
              <a:rPr lang="en-NZ" sz="3000" dirty="0" smtClean="0">
                <a:latin typeface="Arial Narrow" panose="020B0606020202030204" pitchFamily="34" charset="0"/>
              </a:rPr>
              <a:t>• Increases </a:t>
            </a:r>
            <a:r>
              <a:rPr lang="en-NZ" sz="3000" b="1" dirty="0" smtClean="0">
                <a:latin typeface="Arial Narrow" panose="020B0606020202030204" pitchFamily="34" charset="0"/>
              </a:rPr>
              <a:t>mobility</a:t>
            </a:r>
            <a:endParaRPr lang="en-NZ" sz="3000" dirty="0">
              <a:latin typeface="Arial Narrow" panose="020B0606020202030204" pitchFamily="34" charset="0"/>
            </a:endParaRPr>
          </a:p>
        </p:txBody>
      </p:sp>
      <p:sp>
        <p:nvSpPr>
          <p:cNvPr id="5" name="Title 1"/>
          <p:cNvSpPr>
            <a:spLocks noGrp="1"/>
          </p:cNvSpPr>
          <p:nvPr>
            <p:ph type="title"/>
          </p:nvPr>
        </p:nvSpPr>
        <p:spPr>
          <a:xfrm>
            <a:off x="301752" y="228600"/>
            <a:ext cx="8534400" cy="758952"/>
          </a:xfrm>
        </p:spPr>
        <p:txBody>
          <a:bodyPr>
            <a:normAutofit/>
          </a:bodyPr>
          <a:lstStyle/>
          <a:p>
            <a:r>
              <a:rPr lang="en-NZ" sz="4000" b="1" dirty="0">
                <a:latin typeface="Arial Narrow" panose="020B0606020202030204" pitchFamily="34" charset="0"/>
              </a:rPr>
              <a:t>Physical </a:t>
            </a:r>
            <a:r>
              <a:rPr lang="en-NZ" sz="4000" b="1" dirty="0" smtClean="0">
                <a:latin typeface="Arial Narrow" panose="020B0606020202030204" pitchFamily="34" charset="0"/>
              </a:rPr>
              <a:t>Benefits of Exercise</a:t>
            </a:r>
            <a:endParaRPr lang="en-NZ" sz="4000" dirty="0">
              <a:latin typeface="Arial Narrow" panose="020B0606020202030204" pitchFamily="34" charset="0"/>
            </a:endParaRPr>
          </a:p>
        </p:txBody>
      </p:sp>
      <p:pic>
        <p:nvPicPr>
          <p:cNvPr id="14340" name="Picture 4" descr="Senior To Do Dumbbell Exercises Royalty Free Cliparts, Vectors, And Stock  Illustration. Image 98575076.">
            <a:hlinkClick r:id="rId3"/>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0" b="93333" l="0" r="100000">
                        <a14:foregroundMark x1="81385" y1="37128" x2="81385" y2="37128"/>
                        <a14:foregroundMark x1="74769" y1="56718" x2="74769" y2="56718"/>
                        <a14:foregroundMark x1="78308" y1="63487" x2="78308" y2="63487"/>
                        <a14:foregroundMark x1="70692" y1="75077" x2="70692" y2="75077"/>
                        <a14:foregroundMark x1="73769" y1="69641" x2="73769" y2="69641"/>
                      </a14:backgroundRemoval>
                    </a14:imgEffect>
                  </a14:imgLayer>
                </a14:imgProps>
              </a:ext>
              <a:ext uri="{28A0092B-C50C-407E-A947-70E740481C1C}">
                <a14:useLocalDpi xmlns:a14="http://schemas.microsoft.com/office/drawing/2010/main" val="0"/>
              </a:ext>
            </a:extLst>
          </a:blip>
          <a:srcRect/>
          <a:stretch>
            <a:fillRect/>
          </a:stretch>
        </p:blipFill>
        <p:spPr bwMode="auto">
          <a:xfrm>
            <a:off x="5652119" y="4239272"/>
            <a:ext cx="3216115" cy="2412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NZ" sz="4400" b="1" dirty="0">
                <a:latin typeface="Arial Narrow" panose="020B0606020202030204" pitchFamily="34" charset="0"/>
              </a:rPr>
              <a:t>Psychological </a:t>
            </a:r>
            <a:r>
              <a:rPr lang="en-NZ" sz="4400" b="1" dirty="0" smtClean="0">
                <a:latin typeface="Arial Narrow" panose="020B0606020202030204" pitchFamily="34" charset="0"/>
              </a:rPr>
              <a:t>Benefit</a:t>
            </a:r>
            <a:endParaRPr lang="en-NZ" sz="4400" dirty="0">
              <a:latin typeface="Arial Narrow" panose="020B0606020202030204" pitchFamily="34" charset="0"/>
            </a:endParaRPr>
          </a:p>
        </p:txBody>
      </p:sp>
      <p:sp>
        <p:nvSpPr>
          <p:cNvPr id="3" name="Content Placeholder 2"/>
          <p:cNvSpPr>
            <a:spLocks noGrp="1"/>
          </p:cNvSpPr>
          <p:nvPr>
            <p:ph sz="quarter" idx="1"/>
          </p:nvPr>
        </p:nvSpPr>
        <p:spPr/>
        <p:txBody>
          <a:bodyPr>
            <a:normAutofit/>
          </a:bodyPr>
          <a:lstStyle/>
          <a:p>
            <a:pPr marL="0" indent="0">
              <a:buNone/>
            </a:pPr>
            <a:r>
              <a:rPr lang="en-NZ" dirty="0" smtClean="0">
                <a:latin typeface="Arial Narrow" panose="020B0606020202030204" pitchFamily="34" charset="0"/>
              </a:rPr>
              <a:t>• </a:t>
            </a:r>
            <a:r>
              <a:rPr lang="en-NZ" sz="2800" dirty="0">
                <a:latin typeface="Arial Narrow" panose="020B0606020202030204" pitchFamily="34" charset="0"/>
              </a:rPr>
              <a:t>Enhances mood</a:t>
            </a:r>
          </a:p>
          <a:p>
            <a:pPr marL="0" indent="0">
              <a:buNone/>
            </a:pPr>
            <a:r>
              <a:rPr lang="en-NZ" sz="2800" dirty="0">
                <a:latin typeface="Arial Narrow" panose="020B0606020202030204" pitchFamily="34" charset="0"/>
              </a:rPr>
              <a:t>• Decreases depression</a:t>
            </a:r>
          </a:p>
          <a:p>
            <a:pPr marL="0" indent="0">
              <a:buNone/>
            </a:pPr>
            <a:r>
              <a:rPr lang="en-NZ" sz="2800" dirty="0">
                <a:latin typeface="Arial Narrow" panose="020B0606020202030204" pitchFamily="34" charset="0"/>
              </a:rPr>
              <a:t>• Increases cognitive function</a:t>
            </a:r>
          </a:p>
          <a:p>
            <a:pPr marL="0" indent="0">
              <a:buNone/>
            </a:pPr>
            <a:r>
              <a:rPr lang="en-NZ" sz="2800" dirty="0">
                <a:latin typeface="Arial Narrow" panose="020B0606020202030204" pitchFamily="34" charset="0"/>
              </a:rPr>
              <a:t>• Increases feelings of personal control</a:t>
            </a:r>
          </a:p>
          <a:p>
            <a:pPr marL="0" indent="0">
              <a:buNone/>
            </a:pPr>
            <a:r>
              <a:rPr lang="en-NZ" sz="2800" dirty="0">
                <a:latin typeface="Arial Narrow" panose="020B0606020202030204" pitchFamily="34" charset="0"/>
              </a:rPr>
              <a:t>• Improves quality of life</a:t>
            </a:r>
          </a:p>
          <a:p>
            <a:pPr marL="0" indent="0">
              <a:buNone/>
            </a:pPr>
            <a:r>
              <a:rPr lang="en-NZ" sz="2800" dirty="0">
                <a:latin typeface="Arial Narrow" panose="020B0606020202030204" pitchFamily="34" charset="0"/>
              </a:rPr>
              <a:t>• Increases feelings of well-being</a:t>
            </a:r>
          </a:p>
          <a:p>
            <a:pPr marL="0" indent="0">
              <a:buNone/>
            </a:pPr>
            <a:r>
              <a:rPr lang="en-NZ" sz="2800" dirty="0">
                <a:latin typeface="Arial Narrow" panose="020B0606020202030204" pitchFamily="34" charset="0"/>
              </a:rPr>
              <a:t>• Decreases stress</a:t>
            </a:r>
          </a:p>
          <a:p>
            <a:pPr marL="0" indent="0">
              <a:buNone/>
            </a:pPr>
            <a:r>
              <a:rPr lang="en-NZ" sz="2800" dirty="0">
                <a:latin typeface="Arial Narrow" panose="020B0606020202030204" pitchFamily="34" charset="0"/>
              </a:rPr>
              <a:t>• Improves sleep</a:t>
            </a:r>
          </a:p>
        </p:txBody>
      </p:sp>
      <p:pic>
        <p:nvPicPr>
          <p:cNvPr id="13314" name="Picture 2" descr="Mind clipart clear mind, Picture #2968747 mind clipart clear mind">
            <a:hlinkClick r:id="rId3"/>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98750" l="1563" r="100000">
                        <a14:foregroundMark x1="10000" y1="57500" x2="10000" y2="57500"/>
                        <a14:foregroundMark x1="8750" y1="33438" x2="8750" y2="33438"/>
                        <a14:foregroundMark x1="12812" y1="57500" x2="12812" y2="57500"/>
                        <a14:foregroundMark x1="16875" y1="12188" x2="16875" y2="12188"/>
                        <a14:foregroundMark x1="36250" y1="2813" x2="36250" y2="2813"/>
                        <a14:foregroundMark x1="62187" y1="4688" x2="62187" y2="4688"/>
                        <a14:foregroundMark x1="82188" y1="15313" x2="82188" y2="15313"/>
                        <a14:foregroundMark x1="94063" y1="32188" x2="94063" y2="32188"/>
                      </a14:backgroundRemoval>
                    </a14:imgEffect>
                  </a14:imgLayer>
                </a14:imgProps>
              </a:ext>
              <a:ext uri="{28A0092B-C50C-407E-A947-70E740481C1C}">
                <a14:useLocalDpi xmlns:a14="http://schemas.microsoft.com/office/drawing/2010/main" val="0"/>
              </a:ext>
            </a:extLst>
          </a:blip>
          <a:srcRect/>
          <a:stretch>
            <a:fillRect/>
          </a:stretch>
        </p:blipFill>
        <p:spPr bwMode="auto">
          <a:xfrm>
            <a:off x="5796136" y="2708920"/>
            <a:ext cx="2687960" cy="2687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4722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NZ" sz="4400" b="1" dirty="0" smtClean="0">
                <a:latin typeface="Arial Narrow" panose="020B0606020202030204" pitchFamily="34" charset="0"/>
              </a:rPr>
              <a:t>F.I.T.T.  Principle</a:t>
            </a:r>
            <a:endParaRPr lang="en-NZ" sz="4400" b="1" dirty="0">
              <a:latin typeface="Arial Narrow" panose="020B0606020202030204" pitchFamily="34" charset="0"/>
            </a:endParaRPr>
          </a:p>
        </p:txBody>
      </p:sp>
      <p:pic>
        <p:nvPicPr>
          <p:cNvPr id="3074" name="Picture 2" descr="Fitt principle">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10" t="32454" r="8314" b="14341"/>
          <a:stretch/>
        </p:blipFill>
        <p:spPr bwMode="auto">
          <a:xfrm>
            <a:off x="251520" y="1700808"/>
            <a:ext cx="8618441" cy="4070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589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sz="quarter" idx="1"/>
          </p:nvPr>
        </p:nvSpPr>
        <p:spPr>
          <a:xfrm>
            <a:off x="539552" y="1268760"/>
            <a:ext cx="7344816" cy="4572000"/>
          </a:xfrm>
        </p:spPr>
        <p:txBody>
          <a:bodyPr anchor="ctr">
            <a:normAutofit/>
          </a:bodyPr>
          <a:lstStyle/>
          <a:p>
            <a:pPr marL="0" indent="0" eaLnBrk="1" hangingPunct="1">
              <a:buNone/>
            </a:pPr>
            <a:r>
              <a:rPr lang="en-NZ" altLang="en-US" sz="3600" b="1" dirty="0" smtClean="0">
                <a:latin typeface="Arial Narrow" panose="020B0606020202030204" pitchFamily="34" charset="0"/>
              </a:rPr>
              <a:t>How often?</a:t>
            </a:r>
          </a:p>
          <a:p>
            <a:pPr lvl="1" eaLnBrk="1" hangingPunct="1"/>
            <a:r>
              <a:rPr lang="en-NZ" altLang="en-US" sz="3200" dirty="0" smtClean="0">
                <a:solidFill>
                  <a:schemeClr val="bg2">
                    <a:lumMod val="25000"/>
                  </a:schemeClr>
                </a:solidFill>
                <a:latin typeface="Arial Narrow" panose="020B0606020202030204" pitchFamily="34" charset="0"/>
              </a:rPr>
              <a:t>3 days minimum a week</a:t>
            </a:r>
          </a:p>
          <a:p>
            <a:pPr lvl="1" eaLnBrk="1" hangingPunct="1"/>
            <a:r>
              <a:rPr lang="en-NZ" altLang="en-US" sz="3200" dirty="0" smtClean="0">
                <a:solidFill>
                  <a:schemeClr val="bg2">
                    <a:lumMod val="25000"/>
                  </a:schemeClr>
                </a:solidFill>
                <a:latin typeface="Arial Narrow" panose="020B0606020202030204" pitchFamily="34" charset="0"/>
              </a:rPr>
              <a:t>4-5 days ideal</a:t>
            </a:r>
          </a:p>
          <a:p>
            <a:pPr lvl="1" eaLnBrk="1" hangingPunct="1"/>
            <a:r>
              <a:rPr lang="en-NZ" altLang="en-US" sz="3200" dirty="0" smtClean="0">
                <a:solidFill>
                  <a:schemeClr val="bg2">
                    <a:lumMod val="25000"/>
                  </a:schemeClr>
                </a:solidFill>
                <a:latin typeface="Arial Narrow" panose="020B0606020202030204" pitchFamily="34" charset="0"/>
              </a:rPr>
              <a:t>Rest days</a:t>
            </a:r>
          </a:p>
          <a:p>
            <a:pPr lvl="1" eaLnBrk="1" hangingPunct="1"/>
            <a:r>
              <a:rPr lang="en-NZ" altLang="en-US" sz="3200" dirty="0" smtClean="0">
                <a:solidFill>
                  <a:schemeClr val="bg2">
                    <a:lumMod val="25000"/>
                  </a:schemeClr>
                </a:solidFill>
                <a:latin typeface="Arial Narrow" panose="020B0606020202030204" pitchFamily="34" charset="0"/>
              </a:rPr>
              <a:t>Habit and lifestyle</a:t>
            </a:r>
          </a:p>
          <a:p>
            <a:pPr lvl="1" eaLnBrk="1" hangingPunct="1"/>
            <a:r>
              <a:rPr lang="en-NZ" altLang="en-US" sz="3200" dirty="0" smtClean="0">
                <a:solidFill>
                  <a:schemeClr val="bg2">
                    <a:lumMod val="25000"/>
                  </a:schemeClr>
                </a:solidFill>
                <a:latin typeface="Arial Narrow" panose="020B0606020202030204" pitchFamily="34" charset="0"/>
              </a:rPr>
              <a:t>Keep a diary to track your progress! </a:t>
            </a:r>
          </a:p>
        </p:txBody>
      </p:sp>
      <p:sp>
        <p:nvSpPr>
          <p:cNvPr id="7" name="Title 1"/>
          <p:cNvSpPr>
            <a:spLocks noGrp="1"/>
          </p:cNvSpPr>
          <p:nvPr>
            <p:ph type="title"/>
          </p:nvPr>
        </p:nvSpPr>
        <p:spPr/>
        <p:txBody>
          <a:bodyPr>
            <a:noAutofit/>
          </a:bodyPr>
          <a:lstStyle/>
          <a:p>
            <a:r>
              <a:rPr lang="en-NZ" sz="4800" b="1" dirty="0" smtClean="0">
                <a:latin typeface="Arial Narrow" panose="020B0606020202030204" pitchFamily="34" charset="0"/>
              </a:rPr>
              <a:t>Frequency</a:t>
            </a:r>
            <a:endParaRPr lang="en-NZ" sz="4800" b="1" dirty="0">
              <a:latin typeface="Arial Narrow" panose="020B0606020202030204" pitchFamily="34" charset="0"/>
            </a:endParaRPr>
          </a:p>
        </p:txBody>
      </p:sp>
    </p:spTree>
    <p:extLst>
      <p:ext uri="{BB962C8B-B14F-4D97-AF65-F5344CB8AC3E}">
        <p14:creationId xmlns:p14="http://schemas.microsoft.com/office/powerpoint/2010/main" val="98560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
          </p:nvPr>
        </p:nvSpPr>
        <p:spPr>
          <a:xfrm>
            <a:off x="640080" y="1556792"/>
            <a:ext cx="8503920" cy="4572000"/>
          </a:xfrm>
        </p:spPr>
        <p:txBody>
          <a:bodyPr anchor="ctr">
            <a:normAutofit/>
          </a:bodyPr>
          <a:lstStyle/>
          <a:p>
            <a:pPr marL="0" indent="0" eaLnBrk="1" hangingPunct="1">
              <a:buNone/>
            </a:pPr>
            <a:r>
              <a:rPr lang="en-NZ" altLang="en-US" sz="3600" b="1" dirty="0" smtClean="0">
                <a:latin typeface="Arial Narrow" panose="020B0606020202030204" pitchFamily="34" charset="0"/>
              </a:rPr>
              <a:t>How hard do I exercise?</a:t>
            </a:r>
          </a:p>
          <a:p>
            <a:pPr lvl="1" eaLnBrk="1" hangingPunct="1"/>
            <a:r>
              <a:rPr lang="en-NZ" altLang="en-US" sz="3200" dirty="0" smtClean="0">
                <a:solidFill>
                  <a:schemeClr val="bg2">
                    <a:lumMod val="25000"/>
                  </a:schemeClr>
                </a:solidFill>
                <a:latin typeface="Arial Narrow" panose="020B0606020202030204" pitchFamily="34" charset="0"/>
              </a:rPr>
              <a:t>BORG breathlessness scale 3-4 (moderate to somewhat severe)</a:t>
            </a:r>
          </a:p>
          <a:p>
            <a:pPr lvl="1" eaLnBrk="1" hangingPunct="1"/>
            <a:r>
              <a:rPr lang="en-NZ" altLang="en-US" sz="3200" dirty="0" smtClean="0">
                <a:solidFill>
                  <a:schemeClr val="bg2">
                    <a:lumMod val="25000"/>
                  </a:schemeClr>
                </a:solidFill>
                <a:latin typeface="Arial Narrow" panose="020B0606020202030204" pitchFamily="34" charset="0"/>
              </a:rPr>
              <a:t>Need to be puffed</a:t>
            </a:r>
          </a:p>
          <a:p>
            <a:pPr lvl="1" eaLnBrk="1" hangingPunct="1"/>
            <a:r>
              <a:rPr lang="en-NZ" altLang="en-US" sz="3200" dirty="0" smtClean="0">
                <a:solidFill>
                  <a:schemeClr val="bg2">
                    <a:lumMod val="25000"/>
                  </a:schemeClr>
                </a:solidFill>
                <a:latin typeface="Arial Narrow" panose="020B0606020202030204" pitchFamily="34" charset="0"/>
              </a:rPr>
              <a:t>Purposeful</a:t>
            </a:r>
          </a:p>
          <a:p>
            <a:pPr lvl="1" eaLnBrk="1" hangingPunct="1"/>
            <a:r>
              <a:rPr lang="en-NZ" altLang="en-US" sz="3200" dirty="0" smtClean="0">
                <a:solidFill>
                  <a:schemeClr val="bg2">
                    <a:lumMod val="25000"/>
                  </a:schemeClr>
                </a:solidFill>
                <a:latin typeface="Arial Narrow" panose="020B0606020202030204" pitchFamily="34" charset="0"/>
              </a:rPr>
              <a:t>Walk and Talk test</a:t>
            </a:r>
          </a:p>
          <a:p>
            <a:pPr lvl="1" eaLnBrk="1" hangingPunct="1"/>
            <a:r>
              <a:rPr lang="en-NZ" altLang="en-US" sz="3200" dirty="0" smtClean="0">
                <a:solidFill>
                  <a:schemeClr val="bg2">
                    <a:lumMod val="25000"/>
                  </a:schemeClr>
                </a:solidFill>
                <a:latin typeface="Arial Narrow" panose="020B0606020202030204" pitchFamily="34" charset="0"/>
              </a:rPr>
              <a:t>Progression over time</a:t>
            </a:r>
          </a:p>
        </p:txBody>
      </p:sp>
      <p:sp>
        <p:nvSpPr>
          <p:cNvPr id="6" name="Title 1"/>
          <p:cNvSpPr>
            <a:spLocks noGrp="1"/>
          </p:cNvSpPr>
          <p:nvPr>
            <p:ph type="title"/>
          </p:nvPr>
        </p:nvSpPr>
        <p:spPr>
          <a:xfrm>
            <a:off x="301752" y="228600"/>
            <a:ext cx="8534400" cy="758952"/>
          </a:xfrm>
        </p:spPr>
        <p:txBody>
          <a:bodyPr>
            <a:noAutofit/>
          </a:bodyPr>
          <a:lstStyle/>
          <a:p>
            <a:r>
              <a:rPr lang="en-NZ" sz="4800" b="1" dirty="0" smtClean="0">
                <a:latin typeface="Arial Narrow" panose="020B0606020202030204" pitchFamily="34" charset="0"/>
              </a:rPr>
              <a:t>Intensity</a:t>
            </a:r>
            <a:endParaRPr lang="en-NZ" sz="4800" b="1" dirty="0">
              <a:latin typeface="Arial Narrow" panose="020B0606020202030204" pitchFamily="34" charset="0"/>
            </a:endParaRPr>
          </a:p>
        </p:txBody>
      </p:sp>
    </p:spTree>
    <p:extLst>
      <p:ext uri="{BB962C8B-B14F-4D97-AF65-F5344CB8AC3E}">
        <p14:creationId xmlns:p14="http://schemas.microsoft.com/office/powerpoint/2010/main" val="3523212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
          </p:nvPr>
        </p:nvSpPr>
        <p:spPr>
          <a:xfrm>
            <a:off x="646441" y="1556792"/>
            <a:ext cx="8503920" cy="4572000"/>
          </a:xfrm>
        </p:spPr>
        <p:txBody>
          <a:bodyPr anchor="ctr">
            <a:normAutofit/>
          </a:bodyPr>
          <a:lstStyle/>
          <a:p>
            <a:pPr marL="0" indent="0" eaLnBrk="1" hangingPunct="1">
              <a:buNone/>
            </a:pPr>
            <a:r>
              <a:rPr lang="en-NZ" altLang="en-US" sz="3600" b="1" dirty="0" smtClean="0">
                <a:latin typeface="Arial Narrow" panose="020B0606020202030204" pitchFamily="34" charset="0"/>
              </a:rPr>
              <a:t>How long to exercise for?</a:t>
            </a:r>
          </a:p>
          <a:p>
            <a:pPr lvl="1" eaLnBrk="1" hangingPunct="1"/>
            <a:r>
              <a:rPr lang="en-NZ" altLang="en-US" sz="3200" dirty="0" smtClean="0">
                <a:solidFill>
                  <a:schemeClr val="bg2">
                    <a:lumMod val="25000"/>
                  </a:schemeClr>
                </a:solidFill>
                <a:latin typeface="Arial Narrow" panose="020B0606020202030204" pitchFamily="34" charset="0"/>
              </a:rPr>
              <a:t>Continuous</a:t>
            </a:r>
          </a:p>
          <a:p>
            <a:pPr lvl="1" eaLnBrk="1" hangingPunct="1"/>
            <a:r>
              <a:rPr lang="en-NZ" altLang="en-US" sz="3200" dirty="0" smtClean="0">
                <a:solidFill>
                  <a:schemeClr val="bg2">
                    <a:lumMod val="25000"/>
                  </a:schemeClr>
                </a:solidFill>
                <a:latin typeface="Arial Narrow" panose="020B0606020202030204" pitchFamily="34" charset="0"/>
              </a:rPr>
              <a:t>Interval</a:t>
            </a:r>
          </a:p>
          <a:p>
            <a:pPr lvl="1" eaLnBrk="1" hangingPunct="1"/>
            <a:r>
              <a:rPr lang="en-NZ" altLang="en-US" sz="3200" dirty="0" smtClean="0">
                <a:solidFill>
                  <a:schemeClr val="bg2">
                    <a:lumMod val="25000"/>
                  </a:schemeClr>
                </a:solidFill>
                <a:latin typeface="Arial Narrow" panose="020B0606020202030204" pitchFamily="34" charset="0"/>
              </a:rPr>
              <a:t>30-60 minutes  or 150 minutes a week</a:t>
            </a:r>
          </a:p>
          <a:p>
            <a:pPr lvl="1" eaLnBrk="1" hangingPunct="1"/>
            <a:r>
              <a:rPr lang="en-NZ" altLang="en-US" sz="3200" dirty="0" smtClean="0">
                <a:solidFill>
                  <a:schemeClr val="bg2">
                    <a:lumMod val="25000"/>
                  </a:schemeClr>
                </a:solidFill>
                <a:latin typeface="Arial Narrow" panose="020B0606020202030204" pitchFamily="34" charset="0"/>
              </a:rPr>
              <a:t>Something is better than nothing</a:t>
            </a:r>
          </a:p>
          <a:p>
            <a:pPr lvl="1" eaLnBrk="1" hangingPunct="1"/>
            <a:endParaRPr lang="en-NZ" altLang="en-US" sz="3200" dirty="0" smtClean="0">
              <a:latin typeface="Arial Narrow" panose="020B0606020202030204" pitchFamily="34" charset="0"/>
            </a:endParaRPr>
          </a:p>
        </p:txBody>
      </p:sp>
      <p:sp>
        <p:nvSpPr>
          <p:cNvPr id="5" name="Title 1"/>
          <p:cNvSpPr txBox="1">
            <a:spLocks/>
          </p:cNvSpPr>
          <p:nvPr/>
        </p:nvSpPr>
        <p:spPr>
          <a:xfrm>
            <a:off x="251520" y="26064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NZ" sz="4800" b="1" dirty="0" smtClean="0">
                <a:latin typeface="Arial Narrow" panose="020B0606020202030204" pitchFamily="34" charset="0"/>
              </a:rPr>
              <a:t>Time</a:t>
            </a:r>
            <a:endParaRPr lang="en-NZ" sz="4800" b="1" dirty="0">
              <a:latin typeface="Arial Narrow" panose="020B0606020202030204" pitchFamily="34" charset="0"/>
            </a:endParaRPr>
          </a:p>
        </p:txBody>
      </p:sp>
    </p:spTree>
    <p:extLst>
      <p:ext uri="{BB962C8B-B14F-4D97-AF65-F5344CB8AC3E}">
        <p14:creationId xmlns:p14="http://schemas.microsoft.com/office/powerpoint/2010/main" val="286300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
          </p:nvPr>
        </p:nvSpPr>
        <p:spPr/>
        <p:txBody>
          <a:bodyPr rtlCol="0">
            <a:noAutofit/>
          </a:bodyPr>
          <a:lstStyle/>
          <a:p>
            <a:pPr marL="274320" indent="-274320" eaLnBrk="1" fontAlgn="auto" hangingPunct="1">
              <a:spcAft>
                <a:spcPts val="0"/>
              </a:spcAft>
              <a:buFont typeface="Arial" panose="020B0604020202020204" pitchFamily="34" charset="0"/>
              <a:buChar char="•"/>
              <a:defRPr/>
            </a:pPr>
            <a:r>
              <a:rPr lang="en-NZ" sz="3200" b="1" dirty="0" smtClean="0">
                <a:latin typeface="Arial Narrow" panose="020B0606020202030204" pitchFamily="34" charset="0"/>
              </a:rPr>
              <a:t>Cardiovascular</a:t>
            </a:r>
          </a:p>
          <a:p>
            <a:pPr marL="1074420" lvl="2" indent="-274320" eaLnBrk="1" fontAlgn="auto" hangingPunct="1">
              <a:spcAft>
                <a:spcPts val="0"/>
              </a:spcAft>
              <a:buFont typeface="Arial" panose="020B0604020202020204" pitchFamily="34" charset="0"/>
              <a:buChar char="•"/>
              <a:defRPr/>
            </a:pPr>
            <a:r>
              <a:rPr lang="en-NZ" sz="2800" dirty="0" smtClean="0">
                <a:latin typeface="Arial Narrow" panose="020B0606020202030204" pitchFamily="34" charset="0"/>
              </a:rPr>
              <a:t>Walking, cycling, step ups, swimming, rowing</a:t>
            </a:r>
            <a:endParaRPr lang="en-NZ" sz="2800" dirty="0">
              <a:latin typeface="Arial Narrow" panose="020B0606020202030204" pitchFamily="34" charset="0"/>
            </a:endParaRPr>
          </a:p>
          <a:p>
            <a:pPr marL="1074420" lvl="2" indent="-274320" eaLnBrk="1" fontAlgn="auto" hangingPunct="1">
              <a:spcAft>
                <a:spcPts val="0"/>
              </a:spcAft>
              <a:buFont typeface="Arial" panose="020B0604020202020204" pitchFamily="34" charset="0"/>
              <a:buChar char="•"/>
              <a:defRPr/>
            </a:pPr>
            <a:r>
              <a:rPr lang="en-NZ" sz="2800" dirty="0">
                <a:latin typeface="Arial Narrow" panose="020B0606020202030204" pitchFamily="34" charset="0"/>
              </a:rPr>
              <a:t>I</a:t>
            </a:r>
            <a:r>
              <a:rPr lang="en-NZ" sz="2800" dirty="0" smtClean="0">
                <a:latin typeface="Arial Narrow" panose="020B0606020202030204" pitchFamily="34" charset="0"/>
              </a:rPr>
              <a:t>ncrease heart rate and breathing rate</a:t>
            </a:r>
          </a:p>
          <a:p>
            <a:pPr marL="411480" lvl="1" indent="-274320" eaLnBrk="1" fontAlgn="auto" hangingPunct="1">
              <a:spcAft>
                <a:spcPts val="0"/>
              </a:spcAft>
              <a:buFont typeface="Arial" panose="020B0604020202020204" pitchFamily="34" charset="0"/>
              <a:buChar char="–"/>
              <a:defRPr/>
            </a:pPr>
            <a:endParaRPr lang="en-NZ" sz="2800" dirty="0">
              <a:latin typeface="Arial Narrow" panose="020B0606020202030204" pitchFamily="34" charset="0"/>
            </a:endParaRPr>
          </a:p>
          <a:p>
            <a:pPr marL="274320" indent="-274320" eaLnBrk="1" fontAlgn="auto" hangingPunct="1">
              <a:spcAft>
                <a:spcPts val="0"/>
              </a:spcAft>
              <a:buFont typeface="Arial" panose="020B0604020202020204" pitchFamily="34" charset="0"/>
              <a:buChar char="•"/>
              <a:defRPr/>
            </a:pPr>
            <a:r>
              <a:rPr lang="en-NZ" sz="3200" b="1" dirty="0">
                <a:latin typeface="Arial Narrow" panose="020B0606020202030204" pitchFamily="34" charset="0"/>
              </a:rPr>
              <a:t>S</a:t>
            </a:r>
            <a:r>
              <a:rPr lang="en-NZ" sz="3200" b="1" dirty="0" smtClean="0">
                <a:latin typeface="Arial Narrow" panose="020B0606020202030204" pitchFamily="34" charset="0"/>
              </a:rPr>
              <a:t>trength</a:t>
            </a:r>
          </a:p>
          <a:p>
            <a:pPr marL="1074420" lvl="2" indent="-274320" eaLnBrk="1" fontAlgn="auto" hangingPunct="1">
              <a:spcAft>
                <a:spcPts val="0"/>
              </a:spcAft>
              <a:buFont typeface="Arial" panose="020B0604020202020204" pitchFamily="34" charset="0"/>
              <a:buChar char="•"/>
              <a:defRPr/>
            </a:pPr>
            <a:r>
              <a:rPr lang="en-NZ" sz="2800" dirty="0" smtClean="0">
                <a:latin typeface="Arial Narrow" panose="020B0606020202030204" pitchFamily="34" charset="0"/>
              </a:rPr>
              <a:t>Free weights, body weight, </a:t>
            </a:r>
            <a:r>
              <a:rPr lang="en-NZ" sz="2800" dirty="0" err="1" smtClean="0">
                <a:latin typeface="Arial Narrow" panose="020B0606020202030204" pitchFamily="34" charset="0"/>
              </a:rPr>
              <a:t>therabands</a:t>
            </a:r>
            <a:endParaRPr lang="en-NZ" sz="2800" dirty="0" smtClean="0">
              <a:latin typeface="Arial Narrow" panose="020B0606020202030204" pitchFamily="34" charset="0"/>
            </a:endParaRPr>
          </a:p>
          <a:p>
            <a:pPr marL="1074420" lvl="2" indent="-274320" eaLnBrk="1" fontAlgn="auto" hangingPunct="1">
              <a:spcAft>
                <a:spcPts val="0"/>
              </a:spcAft>
              <a:buFont typeface="Arial" panose="020B0604020202020204" pitchFamily="34" charset="0"/>
              <a:buChar char="•"/>
              <a:defRPr/>
            </a:pPr>
            <a:r>
              <a:rPr lang="en-NZ" sz="2800" dirty="0" smtClean="0">
                <a:latin typeface="Arial Narrow" panose="020B0606020202030204" pitchFamily="34" charset="0"/>
              </a:rPr>
              <a:t>Build muscle strength and endurance</a:t>
            </a:r>
            <a:endParaRPr lang="en-NZ" sz="2800" dirty="0">
              <a:latin typeface="Arial Narrow" panose="020B0606020202030204" pitchFamily="34" charset="0"/>
            </a:endParaRPr>
          </a:p>
        </p:txBody>
      </p:sp>
      <p:sp>
        <p:nvSpPr>
          <p:cNvPr id="5" name="Title 1"/>
          <p:cNvSpPr txBox="1">
            <a:spLocks/>
          </p:cNvSpPr>
          <p:nvPr/>
        </p:nvSpPr>
        <p:spPr>
          <a:xfrm>
            <a:off x="251520" y="26064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NZ" sz="4800" b="1" dirty="0" smtClean="0">
                <a:latin typeface="Arial Narrow" panose="020B0606020202030204" pitchFamily="34" charset="0"/>
              </a:rPr>
              <a:t>Type</a:t>
            </a:r>
            <a:endParaRPr lang="en-NZ" sz="4800" b="1" dirty="0">
              <a:latin typeface="Arial Narrow" panose="020B0606020202030204" pitchFamily="34" charset="0"/>
            </a:endParaRPr>
          </a:p>
        </p:txBody>
      </p:sp>
    </p:spTree>
    <p:extLst>
      <p:ext uri="{BB962C8B-B14F-4D97-AF65-F5344CB8AC3E}">
        <p14:creationId xmlns:p14="http://schemas.microsoft.com/office/powerpoint/2010/main" val="399854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NZ" sz="4400" b="1" dirty="0" smtClean="0">
                <a:latin typeface="Arial Narrow" panose="020B0606020202030204" pitchFamily="34" charset="0"/>
              </a:rPr>
              <a:t>Tips to Exercise Safely</a:t>
            </a:r>
            <a:endParaRPr lang="en-NZ" sz="4400" b="1" dirty="0">
              <a:latin typeface="Arial Narrow" panose="020B0606020202030204" pitchFamily="34" charset="0"/>
            </a:endParaRPr>
          </a:p>
        </p:txBody>
      </p:sp>
      <p:sp>
        <p:nvSpPr>
          <p:cNvPr id="4" name="Content Placeholder 2"/>
          <p:cNvSpPr>
            <a:spLocks noGrp="1"/>
          </p:cNvSpPr>
          <p:nvPr>
            <p:ph sz="quarter" idx="1"/>
          </p:nvPr>
        </p:nvSpPr>
        <p:spPr>
          <a:xfrm>
            <a:off x="323528" y="1340768"/>
            <a:ext cx="8503920" cy="4572000"/>
          </a:xfrm>
        </p:spPr>
        <p:txBody>
          <a:bodyPr anchor="ctr">
            <a:normAutofit/>
          </a:bodyPr>
          <a:lstStyle/>
          <a:p>
            <a:pPr eaLnBrk="1" hangingPunct="1"/>
            <a:r>
              <a:rPr lang="en-NZ" altLang="en-US" sz="2800" dirty="0" smtClean="0">
                <a:latin typeface="Arial Narrow" panose="020B0606020202030204" pitchFamily="34" charset="0"/>
              </a:rPr>
              <a:t>Warm up and Cool Down</a:t>
            </a:r>
          </a:p>
          <a:p>
            <a:pPr eaLnBrk="1" hangingPunct="1"/>
            <a:r>
              <a:rPr lang="en-NZ" altLang="en-US" sz="2800" dirty="0" smtClean="0">
                <a:latin typeface="Arial Narrow" panose="020B0606020202030204" pitchFamily="34" charset="0"/>
              </a:rPr>
              <a:t>Supportive Footwear</a:t>
            </a:r>
          </a:p>
          <a:p>
            <a:pPr eaLnBrk="1" hangingPunct="1"/>
            <a:r>
              <a:rPr lang="en-NZ" altLang="en-US" sz="2800" dirty="0" smtClean="0">
                <a:latin typeface="Arial Narrow" panose="020B0606020202030204" pitchFamily="34" charset="0"/>
              </a:rPr>
              <a:t>Layered comfortable clothing</a:t>
            </a:r>
          </a:p>
          <a:p>
            <a:pPr eaLnBrk="1" hangingPunct="1"/>
            <a:r>
              <a:rPr lang="en-NZ" altLang="en-US" sz="2800" dirty="0" smtClean="0">
                <a:latin typeface="Arial Narrow" panose="020B0606020202030204" pitchFamily="34" charset="0"/>
              </a:rPr>
              <a:t>Keep hydrated</a:t>
            </a:r>
          </a:p>
          <a:p>
            <a:pPr eaLnBrk="1" hangingPunct="1"/>
            <a:r>
              <a:rPr lang="en-NZ" altLang="en-US" sz="2800" dirty="0" smtClean="0">
                <a:latin typeface="Arial Narrow" panose="020B0606020202030204" pitchFamily="34" charset="0"/>
              </a:rPr>
              <a:t>Start gradually and progress slowly</a:t>
            </a:r>
          </a:p>
          <a:p>
            <a:pPr eaLnBrk="1" hangingPunct="1"/>
            <a:r>
              <a:rPr lang="en-NZ" altLang="en-US" sz="2800" dirty="0" smtClean="0">
                <a:latin typeface="Arial Narrow" panose="020B0606020202030204" pitchFamily="34" charset="0"/>
              </a:rPr>
              <a:t>Sustenance</a:t>
            </a:r>
          </a:p>
          <a:p>
            <a:pPr lvl="2" eaLnBrk="1" hangingPunct="1"/>
            <a:r>
              <a:rPr lang="en-NZ" altLang="en-US" sz="2400" dirty="0" smtClean="0">
                <a:latin typeface="Arial Narrow" panose="020B0606020202030204" pitchFamily="34" charset="0"/>
              </a:rPr>
              <a:t>Can eat 1-2hrs before and shortly after</a:t>
            </a:r>
          </a:p>
          <a:p>
            <a:pPr lvl="2" eaLnBrk="1" hangingPunct="1"/>
            <a:r>
              <a:rPr lang="en-NZ" altLang="en-US" sz="2400" dirty="0" smtClean="0">
                <a:latin typeface="Arial Narrow" panose="020B0606020202030204" pitchFamily="34" charset="0"/>
              </a:rPr>
              <a:t>If diabetic monitor blood sugar and keep a snack nearby</a:t>
            </a:r>
          </a:p>
          <a:p>
            <a:pPr eaLnBrk="1" hangingPunct="1"/>
            <a:endParaRPr lang="en-NZ" altLang="en-US" sz="2800" dirty="0" smtClean="0">
              <a:latin typeface="Arial Narrow" panose="020B0606020202030204" pitchFamily="34" charset="0"/>
            </a:endParaRPr>
          </a:p>
        </p:txBody>
      </p:sp>
    </p:spTree>
    <p:extLst>
      <p:ext uri="{BB962C8B-B14F-4D97-AF65-F5344CB8AC3E}">
        <p14:creationId xmlns:p14="http://schemas.microsoft.com/office/powerpoint/2010/main" val="3513295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sz="quarter" idx="1"/>
          </p:nvPr>
        </p:nvSpPr>
        <p:spPr/>
        <p:txBody>
          <a:bodyPr rtlCol="0" anchor="ctr">
            <a:noAutofit/>
          </a:bodyPr>
          <a:lstStyle/>
          <a:p>
            <a:pPr marL="273050" indent="-273050" eaLnBrk="1" fontAlgn="auto" hangingPunct="1">
              <a:buFont typeface="Arial" panose="020B0604020202020204" pitchFamily="34" charset="0"/>
              <a:buChar char="•"/>
              <a:defRPr/>
            </a:pPr>
            <a:r>
              <a:rPr lang="en-NZ" altLang="en-US" sz="2800" dirty="0" smtClean="0">
                <a:latin typeface="Arial Narrow" panose="020B0606020202030204" pitchFamily="34" charset="0"/>
              </a:rPr>
              <a:t>Sick with infection </a:t>
            </a:r>
            <a:br>
              <a:rPr lang="en-NZ" altLang="en-US" sz="2800" dirty="0" smtClean="0">
                <a:latin typeface="Arial Narrow" panose="020B0606020202030204" pitchFamily="34" charset="0"/>
              </a:rPr>
            </a:br>
            <a:endParaRPr lang="en-NZ" altLang="en-US" sz="2800" dirty="0" smtClean="0">
              <a:latin typeface="Arial Narrow" panose="020B0606020202030204" pitchFamily="34" charset="0"/>
            </a:endParaRPr>
          </a:p>
          <a:p>
            <a:pPr marL="273050" indent="-273050" eaLnBrk="1" fontAlgn="auto" hangingPunct="1">
              <a:buFont typeface="Arial" panose="020B0604020202020204" pitchFamily="34" charset="0"/>
              <a:buChar char="•"/>
              <a:defRPr/>
            </a:pPr>
            <a:r>
              <a:rPr lang="en-NZ" altLang="en-US" sz="2800" dirty="0" smtClean="0">
                <a:latin typeface="Arial Narrow" panose="020B0606020202030204" pitchFamily="34" charset="0"/>
              </a:rPr>
              <a:t>Chest pain/ wheezy</a:t>
            </a:r>
          </a:p>
          <a:p>
            <a:pPr marL="273050" indent="-273050" eaLnBrk="1" fontAlgn="auto" hangingPunct="1">
              <a:buFont typeface="Arial" panose="020B0604020202020204" pitchFamily="34" charset="0"/>
              <a:buChar char="•"/>
              <a:defRPr/>
            </a:pPr>
            <a:endParaRPr lang="en-NZ" altLang="en-US" sz="2800" dirty="0" smtClean="0">
              <a:latin typeface="Arial Narrow" panose="020B0606020202030204" pitchFamily="34" charset="0"/>
            </a:endParaRPr>
          </a:p>
          <a:p>
            <a:pPr marL="273050" indent="-273050" eaLnBrk="1" fontAlgn="auto" hangingPunct="1">
              <a:buFont typeface="Arial" panose="020B0604020202020204" pitchFamily="34" charset="0"/>
              <a:buChar char="•"/>
              <a:defRPr/>
            </a:pPr>
            <a:r>
              <a:rPr lang="en-NZ" altLang="en-US" sz="2800" dirty="0" smtClean="0">
                <a:latin typeface="Arial Narrow" panose="020B0606020202030204" pitchFamily="34" charset="0"/>
              </a:rPr>
              <a:t>Light headed or dizzy</a:t>
            </a:r>
          </a:p>
          <a:p>
            <a:pPr marL="0" indent="0" eaLnBrk="1" fontAlgn="auto" hangingPunct="1">
              <a:buNone/>
              <a:defRPr/>
            </a:pPr>
            <a:r>
              <a:rPr lang="en-NZ" altLang="en-US" sz="2800" dirty="0">
                <a:latin typeface="Arial Narrow" panose="020B0606020202030204" pitchFamily="34" charset="0"/>
              </a:rPr>
              <a:t/>
            </a:r>
            <a:br>
              <a:rPr lang="en-NZ" altLang="en-US" sz="2800" dirty="0">
                <a:latin typeface="Arial Narrow" panose="020B0606020202030204" pitchFamily="34" charset="0"/>
              </a:rPr>
            </a:br>
            <a:r>
              <a:rPr lang="en-NZ" altLang="en-US" sz="2800" dirty="0" smtClean="0">
                <a:latin typeface="Arial Narrow" panose="020B0606020202030204" pitchFamily="34" charset="0"/>
              </a:rPr>
              <a:t>See GP if any of the above last</a:t>
            </a:r>
          </a:p>
          <a:p>
            <a:pPr marL="273050" indent="-273050" eaLnBrk="1" fontAlgn="auto" hangingPunct="1">
              <a:buFont typeface="Arial" panose="020B0604020202020204" pitchFamily="34" charset="0"/>
              <a:buChar char="•"/>
              <a:defRPr/>
            </a:pPr>
            <a:endParaRPr lang="en-NZ" altLang="en-US" sz="2800" dirty="0" smtClean="0">
              <a:latin typeface="Arial Narrow" panose="020B0606020202030204" pitchFamily="34" charset="0"/>
            </a:endParaRPr>
          </a:p>
          <a:p>
            <a:pPr marL="0" indent="0" eaLnBrk="1" fontAlgn="auto" hangingPunct="1">
              <a:buNone/>
              <a:defRPr/>
            </a:pPr>
            <a:r>
              <a:rPr lang="en-NZ" altLang="en-US" sz="2800" dirty="0" smtClean="0">
                <a:latin typeface="Arial Narrow" panose="020B0606020202030204" pitchFamily="34" charset="0"/>
              </a:rPr>
              <a:t>If feeling indecisive… please do attend  - you won’t regret it! </a:t>
            </a:r>
            <a:endParaRPr lang="en-GB" altLang="en-US" sz="2800" dirty="0" smtClean="0">
              <a:latin typeface="Arial Narrow" panose="020B0606020202030204" pitchFamily="34" charset="0"/>
            </a:endParaRPr>
          </a:p>
        </p:txBody>
      </p:sp>
      <p:sp>
        <p:nvSpPr>
          <p:cNvPr id="5" name="Title 1"/>
          <p:cNvSpPr>
            <a:spLocks noGrp="1"/>
          </p:cNvSpPr>
          <p:nvPr>
            <p:ph type="title"/>
          </p:nvPr>
        </p:nvSpPr>
        <p:spPr>
          <a:xfrm>
            <a:off x="301752" y="228600"/>
            <a:ext cx="8534400" cy="758952"/>
          </a:xfrm>
        </p:spPr>
        <p:txBody>
          <a:bodyPr>
            <a:noAutofit/>
          </a:bodyPr>
          <a:lstStyle/>
          <a:p>
            <a:r>
              <a:rPr lang="en-NZ" sz="4400" b="1" dirty="0" smtClean="0">
                <a:latin typeface="Arial Narrow" panose="020B0606020202030204" pitchFamily="34" charset="0"/>
              </a:rPr>
              <a:t>When not to Exercise</a:t>
            </a:r>
            <a:endParaRPr lang="en-NZ" sz="4400" b="1" dirty="0">
              <a:latin typeface="Arial Narrow" panose="020B0606020202030204" pitchFamily="34" charset="0"/>
            </a:endParaRPr>
          </a:p>
        </p:txBody>
      </p:sp>
    </p:spTree>
    <p:extLst>
      <p:ext uri="{BB962C8B-B14F-4D97-AF65-F5344CB8AC3E}">
        <p14:creationId xmlns:p14="http://schemas.microsoft.com/office/powerpoint/2010/main" val="12528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548679"/>
            <a:ext cx="8784976" cy="593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7488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sz="4000" b="1" dirty="0" smtClean="0">
                <a:latin typeface="Arial Narrow" panose="020B0606020202030204" pitchFamily="34" charset="0"/>
              </a:rPr>
              <a:t>Summary</a:t>
            </a:r>
            <a:endParaRPr lang="en-NZ" sz="4000" b="1" dirty="0">
              <a:latin typeface="Arial Narrow" panose="020B0606020202030204" pitchFamily="34" charset="0"/>
            </a:endParaRPr>
          </a:p>
        </p:txBody>
      </p:sp>
      <p:sp>
        <p:nvSpPr>
          <p:cNvPr id="3" name="Content Placeholder 2"/>
          <p:cNvSpPr>
            <a:spLocks noGrp="1"/>
          </p:cNvSpPr>
          <p:nvPr>
            <p:ph sz="quarter" idx="1"/>
          </p:nvPr>
        </p:nvSpPr>
        <p:spPr>
          <a:xfrm>
            <a:off x="301752" y="1527048"/>
            <a:ext cx="8503920" cy="5070304"/>
          </a:xfrm>
        </p:spPr>
        <p:txBody>
          <a:bodyPr>
            <a:normAutofit/>
          </a:bodyPr>
          <a:lstStyle/>
          <a:p>
            <a:pPr>
              <a:lnSpc>
                <a:spcPct val="150000"/>
              </a:lnSpc>
            </a:pPr>
            <a:r>
              <a:rPr lang="en-NZ" sz="2800" dirty="0" smtClean="0">
                <a:latin typeface="Arial Narrow" panose="020B0606020202030204" pitchFamily="34" charset="0"/>
              </a:rPr>
              <a:t>BE active, and STAY active.</a:t>
            </a:r>
          </a:p>
          <a:p>
            <a:pPr>
              <a:lnSpc>
                <a:spcPct val="150000"/>
              </a:lnSpc>
            </a:pPr>
            <a:r>
              <a:rPr lang="en-NZ" sz="2800" dirty="0" smtClean="0">
                <a:latin typeface="Arial Narrow" panose="020B0606020202030204" pitchFamily="34" charset="0"/>
              </a:rPr>
              <a:t>Do activities you actually enjoy.</a:t>
            </a:r>
          </a:p>
          <a:p>
            <a:pPr>
              <a:lnSpc>
                <a:spcPct val="150000"/>
              </a:lnSpc>
            </a:pPr>
            <a:r>
              <a:rPr lang="en-NZ" sz="2800" dirty="0" smtClean="0">
                <a:latin typeface="Arial Narrow" panose="020B0606020202030204" pitchFamily="34" charset="0"/>
              </a:rPr>
              <a:t>We recommend 3-5x a week, BORG 3-4, Cardio + Strengthening, 30-60 minute per day or 150 minutes of exercise a day but really something is better than nothing.</a:t>
            </a:r>
          </a:p>
          <a:p>
            <a:pPr>
              <a:lnSpc>
                <a:spcPct val="150000"/>
              </a:lnSpc>
            </a:pPr>
            <a:r>
              <a:rPr lang="en-NZ" sz="2800" dirty="0"/>
              <a:t> </a:t>
            </a:r>
            <a:r>
              <a:rPr lang="en-NZ" sz="2800" dirty="0" smtClean="0">
                <a:latin typeface="Arial Narrow" panose="020B0606020202030204" pitchFamily="34" charset="0"/>
              </a:rPr>
              <a:t>Remember not </a:t>
            </a:r>
            <a:r>
              <a:rPr lang="en-NZ" sz="2800" dirty="0">
                <a:latin typeface="Arial Narrow" panose="020B0606020202030204" pitchFamily="34" charset="0"/>
              </a:rPr>
              <a:t>doing </a:t>
            </a:r>
            <a:r>
              <a:rPr lang="en-NZ" sz="2800" dirty="0" smtClean="0">
                <a:latin typeface="Arial Narrow" panose="020B0606020202030204" pitchFamily="34" charset="0"/>
              </a:rPr>
              <a:t>anything is </a:t>
            </a:r>
            <a:r>
              <a:rPr lang="en-NZ" sz="2800" dirty="0">
                <a:latin typeface="Arial Narrow" panose="020B0606020202030204" pitchFamily="34" charset="0"/>
              </a:rPr>
              <a:t>more dangerous than engaging in physical activity</a:t>
            </a:r>
            <a:r>
              <a:rPr lang="en-NZ" sz="2800" dirty="0" smtClean="0">
                <a:latin typeface="Arial Narrow" panose="020B0606020202030204" pitchFamily="34" charset="0"/>
              </a:rPr>
              <a:t>.</a:t>
            </a:r>
            <a:endParaRPr lang="en-NZ" sz="2800" dirty="0">
              <a:latin typeface="Arial Narrow" panose="020B0606020202030204" pitchFamily="34" charset="0"/>
            </a:endParaRPr>
          </a:p>
        </p:txBody>
      </p:sp>
    </p:spTree>
    <p:extLst>
      <p:ext uri="{BB962C8B-B14F-4D97-AF65-F5344CB8AC3E}">
        <p14:creationId xmlns:p14="http://schemas.microsoft.com/office/powerpoint/2010/main" val="2561488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908720"/>
            <a:ext cx="7772400" cy="1248544"/>
          </a:xfrm>
        </p:spPr>
        <p:txBody>
          <a:bodyPr>
            <a:normAutofit/>
          </a:bodyPr>
          <a:lstStyle/>
          <a:p>
            <a:r>
              <a:rPr lang="en-NZ" sz="5400" b="1" dirty="0" smtClean="0">
                <a:solidFill>
                  <a:schemeClr val="tx2">
                    <a:lumMod val="75000"/>
                  </a:schemeClr>
                </a:solidFill>
                <a:latin typeface="Arial Narrow" panose="020B0606020202030204" pitchFamily="34" charset="0"/>
              </a:rPr>
              <a:t>Questions </a:t>
            </a:r>
            <a:endParaRPr lang="en-NZ" sz="5400" b="1" dirty="0">
              <a:solidFill>
                <a:schemeClr val="tx2">
                  <a:lumMod val="75000"/>
                </a:schemeClr>
              </a:solidFill>
              <a:latin typeface="Arial Narrow" panose="020B0606020202030204" pitchFamily="34" charset="0"/>
            </a:endParaRPr>
          </a:p>
        </p:txBody>
      </p:sp>
      <p:pic>
        <p:nvPicPr>
          <p:cNvPr id="5124" name="Picture 4" descr="9 Critical Network Performance Questions Your Business Needs to Ask">
            <a:hlinkClick r:id="rId2"/>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5576" y="2420888"/>
            <a:ext cx="762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6907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135</TotalTime>
  <Words>992</Words>
  <Application>Microsoft Office PowerPoint</Application>
  <PresentationFormat>On-screen Show (4:3)</PresentationFormat>
  <Paragraphs>120</Paragraphs>
  <Slides>17</Slides>
  <Notes>11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Civic</vt:lpstr>
      <vt:lpstr>BENEFITS  OF  EXERCISE</vt:lpstr>
      <vt:lpstr>PowerPoint Presentation</vt:lpstr>
      <vt:lpstr>VICIOUS CYCLE OF INACTIVITY</vt:lpstr>
      <vt:lpstr>WHY do we EXERCISE?</vt:lpstr>
      <vt:lpstr>Physical Benefits of Exercise</vt:lpstr>
      <vt:lpstr>Physical Benefits of Exercise</vt:lpstr>
      <vt:lpstr>Psychological Benefit</vt:lpstr>
      <vt:lpstr>F.I.T.T.  Principle</vt:lpstr>
      <vt:lpstr>Frequency</vt:lpstr>
      <vt:lpstr>Intensity</vt:lpstr>
      <vt:lpstr>PowerPoint Presentation</vt:lpstr>
      <vt:lpstr>PowerPoint Presentation</vt:lpstr>
      <vt:lpstr>Tips to Exercise Safely</vt:lpstr>
      <vt:lpstr>When not to Exercise</vt:lpstr>
      <vt:lpstr>PowerPoint Presentation</vt:lpstr>
      <vt:lpstr>Summary</vt:lpstr>
      <vt:lpstr>Questions </vt:lpstr>
    </vt:vector>
  </TitlesOfParts>
  <Company>HealthAlliance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BENEFITS OF EXERCISE</dc:title>
  <dc:creator>Stephanie Lopez (CMDHB)</dc:creator>
  <cp:lastModifiedBy>Bonnie Wong (CMDHB)</cp:lastModifiedBy>
  <cp:revision>52</cp:revision>
  <dcterms:created xsi:type="dcterms:W3CDTF">2021-01-27T03:00:10Z</dcterms:created>
  <dcterms:modified xsi:type="dcterms:W3CDTF">2022-02-15T19:07:47Z</dcterms:modified>
</cp:coreProperties>
</file>