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6.png" ContentType="image/png"/>
  <Override PartName="/ppt/media/image10.png" ContentType="image/png"/>
  <Override PartName="/ppt/media/image2.jpeg" ContentType="image/jpeg"/>
  <Override PartName="/ppt/media/image3.png" ContentType="image/png"/>
  <Override PartName="/ppt/media/image4.jpeg" ContentType="image/jpeg"/>
  <Override PartName="/ppt/media/image5.png" ContentType="image/png"/>
  <Override PartName="/ppt/media/image7.jpeg" ContentType="image/jpeg"/>
  <Override PartName="/ppt/media/image11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  <p:sldMasterId id="214748365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dt" idx="16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99bdd"/>
                </a:solidFill>
                <a:latin typeface="Corbel"/>
              </a:rPr>
              <a:t>Click to move the slide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48F0C7-FBA3-4FB9-9B6A-FB46F2A8505C}" type="slidenum">
              <a:rPr b="0" lang="en-NZ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F18B07-EEC8-463F-8C24-ED78810264C6}" type="slidenum">
              <a:rPr b="0" lang="en-NZ" sz="1200" spc="-1" strike="noStrike">
                <a:solidFill>
                  <a:srgbClr val="ffffff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4F6030-57D9-4D62-BFC3-C2F4AA894256}" type="slidenum">
              <a:rPr b="0" lang="en-GB" sz="1200" spc="-1" strike="noStrike">
                <a:solidFill>
                  <a:srgbClr val="ffffff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Top to toe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ECF09F-95B1-4946-AA01-255EE1BC8B33}" type="slidenum">
              <a:rPr b="0" lang="en-GB" sz="1200" spc="-1" strike="noStrike">
                <a:solidFill>
                  <a:srgbClr val="ffffff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C47854-2624-493D-85F2-427AF4434AB5}" type="slidenum">
              <a:rPr b="0" lang="en-NZ" sz="1200" spc="-1" strike="noStrike">
                <a:solidFill>
                  <a:srgbClr val="ffffff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2707AC-D00F-4895-9F0D-AA2C099EC4F3}" type="slidenum">
              <a:rPr b="0" lang="en-NZ" sz="1200" spc="-1" strike="noStrike">
                <a:solidFill>
                  <a:srgbClr val="ffffff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FC2A4F-C819-495C-86A7-89F4E2BBD857}" type="slidenum">
              <a:rPr b="0" lang="en-NZ" sz="1200" spc="-1" strike="noStrike">
                <a:solidFill>
                  <a:srgbClr val="ffffff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571F5E-96B7-4326-B28A-8FC901407813}" type="slidenum">
              <a:rPr b="0" lang="en-NZ" sz="1200" spc="-1" strike="noStrike">
                <a:solidFill>
                  <a:srgbClr val="ffffff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2D96AA-A06D-4FA6-8EAB-48145E4E8D6A}" type="slidenum">
              <a:rPr b="0" lang="en-NZ" sz="1200" spc="-1" strike="noStrike">
                <a:solidFill>
                  <a:srgbClr val="ffffff"/>
                </a:solidFill>
                <a:latin typeface="Calibri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79F768-CC97-41C3-A335-6E511630AE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8A9941-D16B-4A10-9D30-408E3714BE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176040"/>
            <a:ext cx="9142560" cy="1646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99bdd"/>
                </a:solidFill>
                <a:latin typeface="Corbel"/>
              </a:rPr>
              <a:t>Click to edit the title text format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Click to edit the outline text format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Second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2" marL="6397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Third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3" marL="8683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Fourth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4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Fifth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5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Sixth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6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Seventh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681120" y="6423120"/>
            <a:ext cx="25956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45720" tIns="46800" bIns="46800" anchor="ctr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0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0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191120" y="6423120"/>
            <a:ext cx="40608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264160" y="6423120"/>
            <a:ext cx="709560" cy="365040"/>
          </a:xfrm>
          <a:prstGeom prst="rect">
            <a:avLst/>
          </a:prstGeom>
          <a:noFill/>
          <a:ln w="0">
            <a:noFill/>
          </a:ln>
        </p:spPr>
        <p:txBody>
          <a:bodyPr lIns="45720" rIns="90000" tIns="46800" bIns="46800" anchor="ctr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1DEB9B-2DB9-49FF-911C-262B1A32817A}" type="slidenum">
              <a:rPr b="0" lang="en-NZ" sz="12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/>
          <p:nvPr/>
        </p:nvSpPr>
        <p:spPr>
          <a:xfrm>
            <a:off x="-4680" y="2058840"/>
            <a:ext cx="9147240" cy="1828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99bdd"/>
                </a:solidFill>
                <a:latin typeface="Corbel"/>
              </a:rPr>
              <a:t>Click to edit the title text format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Click to edit the outline text format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Second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2" marL="6397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Third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3" marL="8683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Fourth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4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Fifth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5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Sixth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6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Seventh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81120" y="6423120"/>
            <a:ext cx="25956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45720" tIns="46800" bIns="46800" anchor="ctr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0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0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91120" y="6423120"/>
            <a:ext cx="40608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264160" y="6423120"/>
            <a:ext cx="709560" cy="365040"/>
          </a:xfrm>
          <a:prstGeom prst="rect">
            <a:avLst/>
          </a:prstGeom>
          <a:noFill/>
          <a:ln w="0">
            <a:noFill/>
          </a:ln>
        </p:spPr>
        <p:txBody>
          <a:bodyPr lIns="45720" rIns="90000" tIns="46800" bIns="46800" anchor="ctr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873849-05C5-477C-803F-658D87159249}" type="slidenum">
              <a:rPr b="0" lang="en-NZ" sz="12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/>
          <p:cNvSpPr/>
          <p:nvPr/>
        </p:nvSpPr>
        <p:spPr>
          <a:xfrm>
            <a:off x="-4680" y="2058840"/>
            <a:ext cx="9147240" cy="1828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99bdd"/>
                </a:solidFill>
                <a:latin typeface="Corbel"/>
              </a:rPr>
              <a:t>Click to edit the title text format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Click to edit the outline text format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Second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2" marL="6397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Third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3" marL="8683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Fourth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4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Fifth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5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Sixth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6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Seventh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681120" y="6423120"/>
            <a:ext cx="25956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4572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000" spc="-1" strike="noStrike">
                <a:solidFill>
                  <a:srgbClr val="f2f2f2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000" spc="-1" strike="noStrike">
                <a:solidFill>
                  <a:srgbClr val="f2f2f2"/>
                </a:solidFill>
                <a:latin typeface="Times New Roman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191120" y="6423120"/>
            <a:ext cx="40608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264160" y="6423120"/>
            <a:ext cx="709560" cy="365040"/>
          </a:xfrm>
          <a:prstGeom prst="rect">
            <a:avLst/>
          </a:prstGeom>
          <a:noFill/>
          <a:ln w="0">
            <a:noFill/>
          </a:ln>
        </p:spPr>
        <p:txBody>
          <a:bodyPr lIns="4572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f2f2f2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584150-E1B1-4A66-8954-05FB0F6AB175}" type="slidenum">
              <a:rPr b="0" lang="en-NZ" sz="1200" spc="-1" strike="noStrike">
                <a:solidFill>
                  <a:srgbClr val="f2f2f2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99bdd"/>
                </a:solidFill>
                <a:latin typeface="Corbel"/>
              </a:rPr>
              <a:t>Click to edit the title text format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Click to edit the outline text format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Second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2" marL="6397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Third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3" marL="8683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Fourth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4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Fifth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5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Sixth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6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Seventh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681120" y="6423120"/>
            <a:ext cx="25956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45720" tIns="46800" bIns="46800" anchor="ctr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0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0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191120" y="6423120"/>
            <a:ext cx="40608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264160" y="6423120"/>
            <a:ext cx="709560" cy="365040"/>
          </a:xfrm>
          <a:prstGeom prst="rect">
            <a:avLst/>
          </a:prstGeom>
          <a:noFill/>
          <a:ln w="0">
            <a:noFill/>
          </a:ln>
        </p:spPr>
        <p:txBody>
          <a:bodyPr lIns="45720" rIns="90000" tIns="46800" bIns="46800" anchor="ctr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83807E-35FC-484D-B4FA-3FD71279B67C}" type="slidenum">
              <a:rPr b="0" lang="en-NZ" sz="12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/>
          <p:nvPr/>
        </p:nvSpPr>
        <p:spPr>
          <a:xfrm>
            <a:off x="6764400" y="0"/>
            <a:ext cx="20574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99bdd"/>
                </a:solidFill>
                <a:latin typeface="Corbel"/>
              </a:rPr>
              <a:t>Click to edit the title text format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Click to edit the outline text format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Second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2" marL="6397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Third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3" marL="8683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Fourth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4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Fifth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5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Sixth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6" marL="10969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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orbel"/>
              </a:rPr>
              <a:t>Seventh Outline Level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628200" y="6423120"/>
            <a:ext cx="20574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45720" tIns="46800" bIns="46800" anchor="ctr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0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0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2832120" y="6423120"/>
            <a:ext cx="32097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054840" y="6423120"/>
            <a:ext cx="660240" cy="365040"/>
          </a:xfrm>
          <a:prstGeom prst="rect">
            <a:avLst/>
          </a:prstGeom>
          <a:noFill/>
          <a:ln w="0">
            <a:noFill/>
          </a:ln>
        </p:spPr>
        <p:txBody>
          <a:bodyPr lIns="45720" rIns="90000" tIns="46800" bIns="46800" anchor="ctr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70FE25-6FDE-442F-B9E2-46C85C965F71}" type="slidenum">
              <a:rPr b="0" lang="en-NZ" sz="12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4360" y="260280"/>
            <a:ext cx="7850160" cy="182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6000" spc="-1" strike="noStrike">
                <a:solidFill>
                  <a:srgbClr val="ffffff"/>
                </a:solidFill>
                <a:latin typeface="Corbel"/>
              </a:rPr>
              <a:t>MAINTAINING </a:t>
            </a:r>
            <a:br>
              <a:rPr sz="6000"/>
            </a:br>
            <a:r>
              <a:rPr b="0" lang="en-NZ" sz="6000" spc="-1" strike="noStrike">
                <a:solidFill>
                  <a:srgbClr val="ffffff"/>
                </a:solidFill>
                <a:latin typeface="Corbel"/>
              </a:rPr>
              <a:t>THE GAINS!</a:t>
            </a:r>
            <a:endParaRPr b="0" lang="en-US" sz="6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718920" y="4292640"/>
            <a:ext cx="7854840" cy="146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2000" spc="-1" strike="noStrike">
              <a:solidFill>
                <a:srgbClr val="ffffff"/>
              </a:solidFill>
              <a:latin typeface="Corbel"/>
            </a:endParaRPr>
          </a:p>
        </p:txBody>
      </p:sp>
      <p:pic>
        <p:nvPicPr>
          <p:cNvPr id="38" name="Picture 1" descr=""/>
          <p:cNvPicPr/>
          <p:nvPr/>
        </p:nvPicPr>
        <p:blipFill>
          <a:blip r:embed="rId1"/>
          <a:srcRect l="0" t="0" r="51031" b="0"/>
          <a:stretch/>
        </p:blipFill>
        <p:spPr>
          <a:xfrm>
            <a:off x="395280" y="4021200"/>
            <a:ext cx="2016000" cy="274464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2" descr=""/>
          <p:cNvPicPr/>
          <p:nvPr/>
        </p:nvPicPr>
        <p:blipFill>
          <a:blip r:embed="rId2"/>
          <a:stretch/>
        </p:blipFill>
        <p:spPr>
          <a:xfrm>
            <a:off x="7093080" y="4005360"/>
            <a:ext cx="1823760" cy="2736720"/>
          </a:xfrm>
          <a:prstGeom prst="rect">
            <a:avLst/>
          </a:prstGeom>
          <a:ln w="0">
            <a:noFill/>
          </a:ln>
        </p:spPr>
      </p:pic>
      <p:pic>
        <p:nvPicPr>
          <p:cNvPr id="40" name="Picture 4" descr=""/>
          <p:cNvPicPr/>
          <p:nvPr/>
        </p:nvPicPr>
        <p:blipFill>
          <a:blip r:embed="rId3"/>
          <a:stretch/>
        </p:blipFill>
        <p:spPr>
          <a:xfrm>
            <a:off x="4048200" y="2171880"/>
            <a:ext cx="1152360" cy="1511280"/>
          </a:xfrm>
          <a:prstGeom prst="rect">
            <a:avLst/>
          </a:prstGeom>
          <a:ln w="0">
            <a:noFill/>
          </a:ln>
        </p:spPr>
      </p:pic>
      <p:pic>
        <p:nvPicPr>
          <p:cNvPr id="41" name="Picture 5" descr=""/>
          <p:cNvPicPr/>
          <p:nvPr/>
        </p:nvPicPr>
        <p:blipFill>
          <a:blip r:embed="rId4"/>
          <a:stretch/>
        </p:blipFill>
        <p:spPr>
          <a:xfrm>
            <a:off x="2987640" y="4160880"/>
            <a:ext cx="3635280" cy="242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>
                <a:solidFill>
                  <a:srgbClr val="099bdd"/>
                </a:solidFill>
                <a:latin typeface="Corbel"/>
              </a:rPr>
              <a:t>OUTLINE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Why we should exercise and how to continue safely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How to over come barriers to exercise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Ideas to keep going after the programme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>
                <a:solidFill>
                  <a:srgbClr val="099bdd"/>
                </a:solidFill>
                <a:latin typeface="Corbel"/>
              </a:rPr>
              <a:t>BENEFITS OF EXERCISE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pic>
        <p:nvPicPr>
          <p:cNvPr id="45" name="Picture 4" descr=""/>
          <p:cNvPicPr/>
          <p:nvPr/>
        </p:nvPicPr>
        <p:blipFill>
          <a:blip r:embed="rId1"/>
          <a:stretch/>
        </p:blipFill>
        <p:spPr>
          <a:xfrm>
            <a:off x="3162240" y="1725480"/>
            <a:ext cx="2594160" cy="5187960"/>
          </a:xfrm>
          <a:prstGeom prst="rect">
            <a:avLst/>
          </a:prstGeom>
          <a:ln w="0">
            <a:noFill/>
          </a:ln>
        </p:spPr>
      </p:pic>
      <p:sp>
        <p:nvSpPr>
          <p:cNvPr id="46" name="Text Box 5"/>
          <p:cNvSpPr/>
          <p:nvPr/>
        </p:nvSpPr>
        <p:spPr>
          <a:xfrm>
            <a:off x="6222960" y="2271600"/>
            <a:ext cx="2951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Improve mood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Box 6"/>
          <p:cNvSpPr/>
          <p:nvPr/>
        </p:nvSpPr>
        <p:spPr>
          <a:xfrm>
            <a:off x="395280" y="1901880"/>
            <a:ext cx="25941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Constantia"/>
              </a:rPr>
              <a:t>Improved concentration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Box 7"/>
          <p:cNvSpPr/>
          <p:nvPr/>
        </p:nvSpPr>
        <p:spPr>
          <a:xfrm>
            <a:off x="7308720" y="333360"/>
            <a:ext cx="288144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Box 8"/>
          <p:cNvSpPr/>
          <p:nvPr/>
        </p:nvSpPr>
        <p:spPr>
          <a:xfrm>
            <a:off x="5928480" y="5268960"/>
            <a:ext cx="2913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Improve muscle strength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Box 9"/>
          <p:cNvSpPr/>
          <p:nvPr/>
        </p:nvSpPr>
        <p:spPr>
          <a:xfrm>
            <a:off x="382680" y="5268960"/>
            <a:ext cx="2571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Improve bone density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Box 10"/>
          <p:cNvSpPr/>
          <p:nvPr/>
        </p:nvSpPr>
        <p:spPr>
          <a:xfrm>
            <a:off x="6214320" y="4427640"/>
            <a:ext cx="2427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Improve joint health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Box 11"/>
          <p:cNvSpPr/>
          <p:nvPr/>
        </p:nvSpPr>
        <p:spPr>
          <a:xfrm>
            <a:off x="629280" y="6024600"/>
            <a:ext cx="2024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Improve balance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Box 12"/>
          <p:cNvSpPr/>
          <p:nvPr/>
        </p:nvSpPr>
        <p:spPr>
          <a:xfrm>
            <a:off x="131400" y="2678040"/>
            <a:ext cx="3204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Reduce high blood pressure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Box 13"/>
          <p:cNvSpPr/>
          <p:nvPr/>
        </p:nvSpPr>
        <p:spPr>
          <a:xfrm>
            <a:off x="117720" y="3557520"/>
            <a:ext cx="3102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Reduce the risk of diabetes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Box 14"/>
          <p:cNvSpPr/>
          <p:nvPr/>
        </p:nvSpPr>
        <p:spPr>
          <a:xfrm>
            <a:off x="925560" y="4427640"/>
            <a:ext cx="1432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Weight loss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Box 15"/>
          <p:cNvSpPr/>
          <p:nvPr/>
        </p:nvSpPr>
        <p:spPr>
          <a:xfrm>
            <a:off x="6116760" y="3397320"/>
            <a:ext cx="23842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Improves efficiency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of the heart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Box 16"/>
          <p:cNvSpPr/>
          <p:nvPr/>
        </p:nvSpPr>
        <p:spPr>
          <a:xfrm>
            <a:off x="5945040" y="5996160"/>
            <a:ext cx="24163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Improve circulation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800" spc="-1" strike="noStrike">
                <a:solidFill>
                  <a:srgbClr val="ffffff"/>
                </a:solidFill>
                <a:latin typeface="Constantia"/>
              </a:rPr>
              <a:t>and blood flow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nodeType="clickEffect" fill="hold">
                      <p:stCondLst>
                        <p:cond delay="indefinite"/>
                      </p:stCondLst>
                      <p:childTnLst>
                        <p:par>
                          <p:cTn id="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nodeType="clickEffect" fill="hold">
                      <p:stCondLst>
                        <p:cond delay="indefinite"/>
                      </p:stCondLst>
                      <p:childTnLst>
                        <p:par>
                          <p:cTn id="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nodeType="clickEffect" fill="hold">
                      <p:stCondLst>
                        <p:cond delay="indefinite"/>
                      </p:stCondLst>
                      <p:childTnLst>
                        <p:par>
                          <p:cTn id="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nodeType="clickEffect" fill="hold">
                      <p:stCondLst>
                        <p:cond delay="indefinite"/>
                      </p:stCondLst>
                      <p:childTnLst>
                        <p:par>
                          <p:cTn id="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nodeType="clickEffect" fill="hold">
                      <p:stCondLst>
                        <p:cond delay="indefinite"/>
                      </p:stCondLst>
                      <p:childTnLst>
                        <p:par>
                          <p:cTn id="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nodeType="clickEffect" fill="hold">
                      <p:stCondLst>
                        <p:cond delay="indefinite"/>
                      </p:stCondLst>
                      <p:childTnLst>
                        <p:par>
                          <p:cTn id="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nodeType="clickEffect" fill="hold">
                      <p:stCondLst>
                        <p:cond delay="indefinite"/>
                      </p:stCondLst>
                      <p:childTnLst>
                        <p:par>
                          <p:cTn id="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nodeType="clickEffect" fill="hold">
                      <p:stCondLst>
                        <p:cond delay="indefinite"/>
                      </p:stCondLst>
                      <p:childTnLst>
                        <p:par>
                          <p:cTn id="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nodeType="clickEffect" fill="hold">
                      <p:stCondLst>
                        <p:cond delay="indefinite"/>
                      </p:stCondLst>
                      <p:childTnLst>
                        <p:par>
                          <p:cTn id="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>
                <a:solidFill>
                  <a:srgbClr val="099bdd"/>
                </a:solidFill>
                <a:latin typeface="Corbel"/>
              </a:rPr>
              <a:t>HOW TO EXERCISE SAFELY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95"/>
          </a:bodyPr>
          <a:p>
            <a:pPr marL="182520" indent="-18252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900" spc="-1" strike="noStrike">
                <a:solidFill>
                  <a:srgbClr val="ffffff"/>
                </a:solidFill>
                <a:latin typeface="Corbel"/>
              </a:rPr>
              <a:t>Something you enjoy</a:t>
            </a:r>
            <a:endParaRPr b="0" lang="en-US" sz="1900" spc="-1" strike="noStrike">
              <a:solidFill>
                <a:srgbClr val="ffffff"/>
              </a:solidFill>
              <a:latin typeface="Corbel"/>
            </a:endParaRPr>
          </a:p>
          <a:p>
            <a:pPr lvl="2" marL="6397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700" spc="-1" strike="noStrike">
                <a:solidFill>
                  <a:srgbClr val="ffffff"/>
                </a:solidFill>
                <a:latin typeface="Corbel"/>
              </a:rPr>
              <a:t>Fits in with your life</a:t>
            </a:r>
            <a:endParaRPr b="0" lang="en-US" sz="1700" spc="-1" strike="noStrike">
              <a:solidFill>
                <a:srgbClr val="ffffff"/>
              </a:solidFill>
              <a:latin typeface="Corbel"/>
            </a:endParaRPr>
          </a:p>
          <a:p>
            <a:pPr lvl="2" marL="6397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700" spc="-1" strike="noStrike">
                <a:solidFill>
                  <a:srgbClr val="ffffff"/>
                </a:solidFill>
                <a:latin typeface="Corbel"/>
              </a:rPr>
              <a:t>Group vs individual</a:t>
            </a:r>
            <a:endParaRPr b="0" lang="en-US" sz="17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900" spc="-1" strike="noStrike">
                <a:solidFill>
                  <a:srgbClr val="ffffff"/>
                </a:solidFill>
                <a:latin typeface="Corbel"/>
              </a:rPr>
              <a:t>Exercise for about 30 minutes a day – if you need to divide up the time into shorter sessions and a mixture of cardiovascular and strength</a:t>
            </a:r>
            <a:endParaRPr b="0" lang="en-US" sz="19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900" spc="-1" strike="noStrike">
                <a:solidFill>
                  <a:srgbClr val="ffffff"/>
                </a:solidFill>
                <a:latin typeface="Corbel"/>
              </a:rPr>
              <a:t>5 times a week</a:t>
            </a:r>
            <a:endParaRPr b="0" lang="en-US" sz="19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900" spc="-1" strike="noStrike">
                <a:solidFill>
                  <a:srgbClr val="ffffff"/>
                </a:solidFill>
                <a:latin typeface="Corbel"/>
              </a:rPr>
              <a:t>Warm up and stretch before exercising</a:t>
            </a:r>
            <a:endParaRPr b="0" lang="en-US" sz="19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900" spc="-1" strike="noStrike">
                <a:solidFill>
                  <a:srgbClr val="ffffff"/>
                </a:solidFill>
                <a:latin typeface="Corbel"/>
              </a:rPr>
              <a:t>Exercise at your own pace (Borg Scale 3-4)</a:t>
            </a:r>
            <a:endParaRPr b="0" lang="en-US" sz="19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900" spc="-1" strike="noStrike">
                <a:solidFill>
                  <a:srgbClr val="ffffff"/>
                </a:solidFill>
                <a:latin typeface="Corbel"/>
              </a:rPr>
              <a:t>At the end of the session slow down gradually</a:t>
            </a:r>
            <a:endParaRPr b="0" lang="en-US" sz="19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900" spc="-1" strike="noStrike">
                <a:solidFill>
                  <a:srgbClr val="ffffff"/>
                </a:solidFill>
                <a:latin typeface="Corbel"/>
              </a:rPr>
              <a:t>Do some stretches after your work out</a:t>
            </a:r>
            <a:endParaRPr b="0" lang="en-US" sz="19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900" spc="-1" strike="noStrike">
                <a:solidFill>
                  <a:srgbClr val="ffffff"/>
                </a:solidFill>
                <a:latin typeface="Corbel"/>
              </a:rPr>
              <a:t>If you miss a few sessions re-start at a lower level than before</a:t>
            </a:r>
            <a:endParaRPr b="0" lang="en-US" sz="19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900" spc="-1" strike="noStrike">
                <a:solidFill>
                  <a:srgbClr val="ffffff"/>
                </a:solidFill>
                <a:latin typeface="Corbel"/>
              </a:rPr>
              <a:t>If you get board with your current activity change to a different exercise</a:t>
            </a:r>
            <a:endParaRPr b="0" lang="en-US" sz="19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8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900" spc="-1" strike="noStrike">
              <a:solidFill>
                <a:srgbClr val="ffffff"/>
              </a:solidFill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>
                <a:solidFill>
                  <a:srgbClr val="099bdd"/>
                </a:solidFill>
                <a:latin typeface="Corbel"/>
              </a:rPr>
              <a:t>WHAT IS HARD ABOUT EXERCISE?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Motivation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Pain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Weather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Boring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Short of breath/ hard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</p:txBody>
      </p:sp>
      <p:pic>
        <p:nvPicPr>
          <p:cNvPr id="62" name="Picture 2" descr="C:\Users\Skip\Downloads\exercise2.png"/>
          <p:cNvPicPr/>
          <p:nvPr/>
        </p:nvPicPr>
        <p:blipFill>
          <a:blip r:embed="rId1"/>
          <a:stretch/>
        </p:blipFill>
        <p:spPr>
          <a:xfrm>
            <a:off x="4716360" y="1916280"/>
            <a:ext cx="3949920" cy="471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" dur="indefinite" restart="never" nodeType="tmRoot">
          <p:childTnLst>
            <p:seq>
              <p:cTn id="57" dur="indefinite" nodeType="mainSeq">
                <p:childTnLst>
                  <p:par>
                    <p:cTn id="58" nodeType="clickEffect" fill="hold">
                      <p:stCondLst>
                        <p:cond delay="indefinite"/>
                      </p:stCondLst>
                      <p:childTnLst>
                        <p:par>
                          <p:cTn id="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5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8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1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4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>
                <a:solidFill>
                  <a:srgbClr val="099bdd"/>
                </a:solidFill>
                <a:latin typeface="Corbel"/>
              </a:rPr>
              <a:t>HOW TO OVERCOME BARRIERS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marL="272880" indent="-272880">
              <a:lnSpc>
                <a:spcPct val="80000"/>
              </a:lnSpc>
              <a:spcBef>
                <a:spcPts val="1199"/>
              </a:spcBef>
              <a:buClr>
                <a:srgbClr val="ffffff"/>
              </a:buClr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Motivation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1" marL="735120" indent="-343080">
              <a:lnSpc>
                <a:spcPct val="8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735120" indent="-343080">
              <a:lnSpc>
                <a:spcPct val="8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Music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735120" indent="-343080">
              <a:lnSpc>
                <a:spcPct val="8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Group/ buddy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735120" indent="-343080">
              <a:lnSpc>
                <a:spcPct val="8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Make an appointment 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735120" indent="-343080">
              <a:lnSpc>
                <a:spcPct val="8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Goals/ aims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735120" indent="-343080">
              <a:lnSpc>
                <a:spcPct val="8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Keep track in a diary/ calendar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735120" indent="-343080">
              <a:lnSpc>
                <a:spcPct val="8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Reward yourself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marL="272880" indent="-272880">
              <a:lnSpc>
                <a:spcPct val="8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272880" indent="-272880">
              <a:lnSpc>
                <a:spcPct val="8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Pain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1" marL="735120" indent="-343080">
              <a:lnSpc>
                <a:spcPct val="8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735120" indent="-343080">
              <a:lnSpc>
                <a:spcPct val="8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Try water exercise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735120" indent="-343080">
              <a:lnSpc>
                <a:spcPct val="8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Seated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</p:txBody>
      </p:sp>
      <p:pic>
        <p:nvPicPr>
          <p:cNvPr id="65" name="Picture 2" descr="C:\Users\Skip\Downloads\goals.jpg"/>
          <p:cNvPicPr/>
          <p:nvPr/>
        </p:nvPicPr>
        <p:blipFill>
          <a:blip r:embed="rId1"/>
          <a:stretch/>
        </p:blipFill>
        <p:spPr>
          <a:xfrm>
            <a:off x="5522760" y="2997360"/>
            <a:ext cx="2935440" cy="219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nodeType="clickEffect" fill="hold">
                      <p:stCondLst>
                        <p:cond delay="indefinite"/>
                      </p:stCondLst>
                      <p:childTnLst>
                        <p:par>
                          <p:cTn id="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81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nodeType="clickEffect" fill="hold">
                      <p:stCondLst>
                        <p:cond delay="indefinite"/>
                      </p:stCondLst>
                      <p:childTnLst>
                        <p:par>
                          <p:cTn id="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86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89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92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95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98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01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nodeType="clickEffect" fill="hold">
                      <p:stCondLst>
                        <p:cond delay="indefinite"/>
                      </p:stCondLst>
                      <p:childTnLst>
                        <p:par>
                          <p:cTn id="1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nodeType="clickEffect" fill="hold">
                      <p:stCondLst>
                        <p:cond delay="indefinite"/>
                      </p:stCondLst>
                      <p:childTnLst>
                        <p:par>
                          <p:cTn id="1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11" dur="500"/>
                                        <p:tgtEl>
                                          <p:spTgt spid="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14" dur="500"/>
                                        <p:tgtEl>
                                          <p:spTgt spid="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>
                <a:solidFill>
                  <a:srgbClr val="099bdd"/>
                </a:solidFill>
                <a:latin typeface="Corbel"/>
              </a:rPr>
              <a:t>HOW TO OVERCOME BARRIERS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Weather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Inside – mall, pool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Short of breath/ hard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Pace your self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Focus on your breathing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411120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Walk and talk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</p:txBody>
      </p:sp>
      <p:pic>
        <p:nvPicPr>
          <p:cNvPr id="68" name="Picture 4" descr=""/>
          <p:cNvPicPr/>
          <p:nvPr/>
        </p:nvPicPr>
        <p:blipFill>
          <a:blip r:embed="rId1"/>
          <a:stretch/>
        </p:blipFill>
        <p:spPr>
          <a:xfrm>
            <a:off x="6335640" y="4346640"/>
            <a:ext cx="2300400" cy="153036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5" descr=""/>
          <p:cNvPicPr/>
          <p:nvPr/>
        </p:nvPicPr>
        <p:blipFill>
          <a:blip r:embed="rId2"/>
          <a:stretch/>
        </p:blipFill>
        <p:spPr>
          <a:xfrm>
            <a:off x="5724360" y="2276640"/>
            <a:ext cx="2943360" cy="155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5" dur="indefinite" restart="never" nodeType="tmRoot">
          <p:childTnLst>
            <p:seq>
              <p:cTn id="116" dur="indefinite" nodeType="mainSeq">
                <p:childTnLst>
                  <p:par>
                    <p:cTn id="117" nodeType="clickEffect" fill="hold">
                      <p:stCondLst>
                        <p:cond delay="indefinite"/>
                      </p:stCondLst>
                      <p:childTnLst>
                        <p:par>
                          <p:cTn id="1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21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nodeType="clickEffect" fill="hold">
                      <p:stCondLst>
                        <p:cond delay="indefinite"/>
                      </p:stCondLst>
                      <p:childTnLst>
                        <p:par>
                          <p:cTn id="1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26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nodeType="clickEffect" fill="hold">
                      <p:stCondLst>
                        <p:cond delay="indefinite"/>
                      </p:stCondLst>
                      <p:childTnLst>
                        <p:par>
                          <p:cTn id="1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31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nodeType="clickEffect" fill="hold">
                      <p:stCondLst>
                        <p:cond delay="indefinite"/>
                      </p:stCondLst>
                      <p:childTnLst>
                        <p:par>
                          <p:cTn id="1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36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39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42" dur="500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>
                <a:solidFill>
                  <a:srgbClr val="099bdd"/>
                </a:solidFill>
                <a:latin typeface="Corbel"/>
              </a:rPr>
              <a:t>EXERCISE IDEAS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82520" indent="-182520">
              <a:lnSpc>
                <a:spcPct val="9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Walking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Home Exercise Programme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Green Prescription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lvl="1" marL="479520" indent="-343080">
              <a:lnSpc>
                <a:spcPct val="9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Gym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479520" indent="-343080">
              <a:lnSpc>
                <a:spcPct val="9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Tai Chi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479520" indent="-343080">
              <a:lnSpc>
                <a:spcPct val="9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Aqua aerobics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479520" indent="-343080">
              <a:lnSpc>
                <a:spcPct val="9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Water walking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  <a:p>
            <a:pPr lvl="1" marL="479520" indent="-343080">
              <a:lnSpc>
                <a:spcPct val="90000"/>
              </a:lnSpc>
              <a:spcBef>
                <a:spcPts val="2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000" spc="-1" strike="noStrike">
                <a:solidFill>
                  <a:srgbClr val="ffffff"/>
                </a:solidFill>
                <a:latin typeface="Corbel"/>
              </a:rPr>
              <a:t>Seated aerobics/ gentle exercise</a:t>
            </a:r>
            <a:endParaRPr b="0" lang="en-US" sz="2000" spc="-1" strike="noStrike">
              <a:solidFill>
                <a:srgbClr val="ffffff"/>
              </a:solidFill>
              <a:latin typeface="Corbel"/>
            </a:endParaRPr>
          </a:p>
        </p:txBody>
      </p:sp>
      <p:pic>
        <p:nvPicPr>
          <p:cNvPr id="72" name="Picture 1" descr=""/>
          <p:cNvPicPr/>
          <p:nvPr/>
        </p:nvPicPr>
        <p:blipFill>
          <a:blip r:embed="rId1"/>
          <a:stretch/>
        </p:blipFill>
        <p:spPr>
          <a:xfrm>
            <a:off x="6516720" y="2205000"/>
            <a:ext cx="2160720" cy="161784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2" descr=""/>
          <p:cNvPicPr/>
          <p:nvPr/>
        </p:nvPicPr>
        <p:blipFill>
          <a:blip r:embed="rId2"/>
          <a:stretch/>
        </p:blipFill>
        <p:spPr>
          <a:xfrm>
            <a:off x="5267160" y="5011560"/>
            <a:ext cx="3191040" cy="14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85800" y="284040"/>
            <a:ext cx="7772400" cy="150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>
                <a:solidFill>
                  <a:srgbClr val="099bdd"/>
                </a:solidFill>
                <a:latin typeface="Corbel"/>
              </a:rPr>
              <a:t>SUMMARY</a:t>
            </a:r>
            <a:endParaRPr b="0" lang="en-US" sz="4000" spc="-1" strike="noStrike">
              <a:solidFill>
                <a:srgbClr val="099bdd"/>
              </a:solidFill>
              <a:latin typeface="Corbe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85800" y="2011320"/>
            <a:ext cx="7772400" cy="4206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Why we should exercise and how to continue safely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How to over come barriers to exercise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  <a:p>
            <a:pPr marL="182520" indent="-1825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ffffff"/>
                </a:solidFill>
                <a:latin typeface="Corbel"/>
              </a:rPr>
              <a:t>Ideas to keep going after the program</a:t>
            </a:r>
            <a:endParaRPr b="0" lang="en-US" sz="2200" spc="-1" strike="noStrike">
              <a:solidFill>
                <a:srgbClr val="ffffff"/>
              </a:solidFill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2012-10-06T15:24:45Z</dcterms:created>
  <dc:creator>Brigitte Eastwood</dc:creator>
  <dc:description/>
  <dc:language>en-US</dc:language>
  <cp:lastModifiedBy>Jorjia Stewart (CMDHB)</cp:lastModifiedBy>
  <dcterms:modified xsi:type="dcterms:W3CDTF">2021-02-03T10:31:30Z</dcterms:modified>
  <cp:revision>12</cp:revision>
  <dc:subject/>
  <dc:title>Exercise in the community</dc:title>
</cp:coreProperties>
</file>