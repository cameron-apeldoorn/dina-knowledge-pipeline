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9.jpeg" ContentType="image/jpeg"/>
  <Override PartName="/ppt/media/image4.jpeg" ContentType="image/jpeg"/>
  <Override PartName="/ppt/media/image5.png" ContentType="image/png"/>
  <Override PartName="/ppt/media/image8.jpeg" ContentType="image/jpeg"/>
  <Override PartName="/ppt/media/image13.jpeg" ContentType="image/jpeg"/>
  <Override PartName="/ppt/media/image7.jpeg" ContentType="image/jpeg"/>
  <Override PartName="/ppt/media/image11.png" ContentType="image/png"/>
  <Override PartName="/ppt/media/image12.jpeg" ContentType="image/jpeg"/>
  <Override PartName="/ppt/media/image10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13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000" spc="-1" strike="noStrike">
                <a:solidFill>
                  <a:srgbClr val="dbf5f9"/>
                </a:solidFill>
                <a:latin typeface="Calibri"/>
              </a:rPr>
              <a:t>Click to move the slide</a:t>
            </a:r>
            <a:endParaRPr b="0" lang="en-US" sz="5000" spc="-1" strike="noStrike">
              <a:solidFill>
                <a:srgbClr val="dbf5f9"/>
              </a:solidFill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14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15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0CC5225-8EB7-478D-8DE4-D484C2383B3E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A48151-AC21-404D-BB07-96770DB41C86}" type="slidenum">
              <a:rPr b="0" lang="en-GB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3DAE40A-3CA1-4BB9-BBE5-D553B8FB9374}" type="slidenum">
              <a:rPr b="0" lang="en-GB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Arial"/>
              </a:rPr>
              <a:t>On returning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4A2695C-0DE8-4EBC-904E-2579F8805711}" type="slidenum">
              <a:rPr b="0" lang="en-GB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175153-9570-43E2-AC13-763642DB8EF7}" type="slidenum">
              <a:rPr b="0" lang="en-GB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Arial"/>
              </a:rPr>
              <a:t>Use accessory muscles when exercise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Arial"/>
              </a:rPr>
              <a:t>Nasal rinse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A3B325-7FE0-44F0-BD76-2F015A774E0B}" type="slidenum">
              <a:rPr b="0" lang="en-GB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C255A94-474C-43CA-BB14-319916A66A6D}" type="slidenum">
              <a:rPr b="0" lang="en-GB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Arial"/>
              </a:rPr>
              <a:t>Nasal rinse - BD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6E51C1E-5873-4099-B862-90C96A1A003E}" type="slidenum">
              <a:rPr b="0" lang="en-GB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Arial"/>
              </a:rPr>
              <a:t>Unwell with lung condition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Arial"/>
              </a:rPr>
              <a:t>Anxious about 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Arial"/>
              </a:rPr>
              <a:t>Pattern becomes chronic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B6C3A57-91FA-4031-9CB0-97260B01C48C}" type="slidenum">
              <a:rPr b="0" lang="en-GB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0C1F89-8D95-4DFA-BFA9-1A4C00149E2A}" type="slidenum">
              <a:rPr b="0" lang="en-GB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B823251-51CF-491F-81E0-9931C6CA1545}" type="slidenum">
              <a:rPr b="0" lang="en-GB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Arial"/>
              </a:rPr>
              <a:t>Hand on chest and stomach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D919016-E8AF-4444-BEAC-57E9A2F368D9}" type="slidenum">
              <a:rPr b="0" lang="en-GB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Arial"/>
              </a:rPr>
              <a:t>Flicker candle, purse lip breathing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3EFD4C5-5A88-4EF7-B1B4-70D4E86FAEB2}" type="slidenum">
              <a:rPr b="0" lang="en-GB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46BCF6-43EC-44D5-A49F-7C38C1BEB4CE}" type="slidenum">
              <a:rPr b="0" lang="en-GB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8004993-8979-44D1-B6B9-E4C21EABB71F}" type="slidenum">
              <a:rPr b="0" lang="en-GB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Arial"/>
              </a:rPr>
              <a:t>Morning, afternoon and night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9E6530-D1CB-4365-9A4C-329CD4AE3E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25DD19-B2FB-4C53-A7FD-7F24766679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3.png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Freeform 6"/>
          <p:cNvSpPr/>
          <p:nvPr/>
        </p:nvSpPr>
        <p:spPr>
          <a:xfrm>
            <a:off x="-9360" y="-7920"/>
            <a:ext cx="9162720" cy="1041480"/>
          </a:xfrm>
          <a:custGeom>
            <a:avLst/>
            <a:gdLst>
              <a:gd name="textAreaLeft" fmla="*/ 0 w 9162720"/>
              <a:gd name="textAreaRight" fmla="*/ 9163080 w 9162720"/>
              <a:gd name="textAreaTop" fmla="*/ 0 h 1041480"/>
              <a:gd name="textAreaBottom" fmla="*/ 1041480 h 1041480"/>
            </a:gdLst>
            <a:ahLst/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9af">
                  <a:alpha val="45098"/>
                </a:srgbClr>
              </a:gs>
              <a:gs pos="100000">
                <a:srgbClr val="00ebf8">
                  <a:alpha val="55294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Freeform 7"/>
          <p:cNvSpPr/>
          <p:nvPr/>
        </p:nvSpPr>
        <p:spPr>
          <a:xfrm>
            <a:off x="4381560" y="-7920"/>
            <a:ext cx="4762440" cy="638280"/>
          </a:xfrm>
          <a:custGeom>
            <a:avLst/>
            <a:gdLst>
              <a:gd name="textAreaLeft" fmla="*/ 0 w 4762440"/>
              <a:gd name="textAreaRight" fmla="*/ 4762800 w 4762440"/>
              <a:gd name="textAreaTop" fmla="*/ 0 h 638280"/>
              <a:gd name="textAreaBottom" fmla="*/ 638640 h 638280"/>
            </a:gdLst>
            <a:ahLst/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db6">
                  <a:alpha val="45098"/>
                </a:srgbClr>
              </a:gs>
              <a:gs pos="100000">
                <a:srgbClr val="009be5">
                  <a:alpha val="30196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000" spc="-1" strike="noStrike">
                <a:solidFill>
                  <a:srgbClr val="04617b"/>
                </a:solidFill>
                <a:latin typeface="Calibri"/>
              </a:rPr>
              <a:t>Click to edit the title text format</a:t>
            </a:r>
            <a:endParaRPr b="0" lang="en-US" sz="5000" spc="-1" strike="noStrike">
              <a:solidFill>
                <a:srgbClr val="04617b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onstantia"/>
              </a:rPr>
              <a:t>Click to edit the outline text format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spcBef>
                <a:spcPts val="64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onstantia"/>
              </a:rPr>
              <a:t>Second Outline Level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lvl="2" marL="914400" indent="-246240">
              <a:spcBef>
                <a:spcPts val="649"/>
              </a:spcBef>
              <a:buClr>
                <a:srgbClr val="009dd9"/>
              </a:buClr>
              <a:buSzPct val="7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onstantia"/>
              </a:rPr>
              <a:t>Third Outline Level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lvl="3" marL="1187280" indent="-209520">
              <a:spcBef>
                <a:spcPts val="649"/>
              </a:spcBef>
              <a:buClr>
                <a:srgbClr val="0bd0d9"/>
              </a:buClr>
              <a:buSzPct val="6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onstantia"/>
              </a:rPr>
              <a:t>Fourth Outline Level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lvl="4" marL="1461960" indent="-209520">
              <a:spcBef>
                <a:spcPts val="649"/>
              </a:spcBef>
              <a:buClr>
                <a:srgbClr val="10cf9b"/>
              </a:buClr>
              <a:buSzPct val="6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onstantia"/>
              </a:rPr>
              <a:t>Fifth Outline Level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lvl="5" marL="1461960" indent="-209520">
              <a:spcBef>
                <a:spcPts val="649"/>
              </a:spcBef>
              <a:buClr>
                <a:srgbClr val="000000"/>
              </a:buClr>
              <a:buSzPct val="6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onstantia"/>
              </a:rPr>
              <a:t>Sixth Outline Level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lvl="6" marL="1461960" indent="-209520">
              <a:spcBef>
                <a:spcPts val="649"/>
              </a:spcBef>
              <a:buClr>
                <a:srgbClr val="000000"/>
              </a:buClr>
              <a:buSzPct val="6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onstantia"/>
              </a:rPr>
              <a:t>Seventh Outline Level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2666880" y="6356520"/>
            <a:ext cx="3353040" cy="3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92432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200" spc="-1" strike="noStrike">
                <a:solidFill>
                  <a:srgbClr val="045c75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805563-FC73-4546-8902-1ED40C4377F2}" type="slidenum">
              <a:rPr b="0" lang="en-GB" sz="1200" spc="-1" strike="noStrike">
                <a:solidFill>
                  <a:srgbClr val="045c75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Group 1"/>
          <p:cNvGrpSpPr/>
          <p:nvPr/>
        </p:nvGrpSpPr>
        <p:grpSpPr>
          <a:xfrm>
            <a:off x="-19080" y="203040"/>
            <a:ext cx="9181080" cy="648000"/>
            <a:chOff x="-19080" y="203040"/>
            <a:chExt cx="9181080" cy="648000"/>
          </a:xfrm>
        </p:grpSpPr>
        <p:grpSp>
          <p:nvGrpSpPr>
            <p:cNvPr id="8" name="Freeform 11"/>
            <p:cNvGrpSpPr/>
            <p:nvPr/>
          </p:nvGrpSpPr>
          <p:grpSpPr>
            <a:xfrm>
              <a:off x="-19080" y="203040"/>
              <a:ext cx="9156600" cy="648000"/>
              <a:chOff x="-19080" y="203040"/>
              <a:chExt cx="9156600" cy="648000"/>
            </a:xfrm>
          </p:grpSpPr>
          <p:pic>
            <p:nvPicPr>
              <p:cNvPr id="9" name="Freeform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3960" y="203040"/>
                <a:ext cx="9133560" cy="6480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0" name=""/>
              <p:cNvSpPr/>
              <p:nvPr/>
            </p:nvSpPr>
            <p:spPr>
              <a:xfrm rot="21435600">
                <a:off x="-18720" y="47880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440" bIns="-464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1" name="Freeform 12"/>
            <p:cNvGrpSpPr/>
            <p:nvPr/>
          </p:nvGrpSpPr>
          <p:grpSpPr>
            <a:xfrm>
              <a:off x="-19080" y="248040"/>
              <a:ext cx="9181080" cy="561600"/>
              <a:chOff x="-19080" y="248040"/>
              <a:chExt cx="9181080" cy="561600"/>
            </a:xfrm>
          </p:grpSpPr>
          <p:pic>
            <p:nvPicPr>
              <p:cNvPr id="12" name="Freeform 12" descr=""/>
              <p:cNvPicPr/>
              <p:nvPr/>
            </p:nvPicPr>
            <p:blipFill>
              <a:blip r:embed="rId4"/>
              <a:stretch/>
            </p:blipFill>
            <p:spPr>
              <a:xfrm>
                <a:off x="-3240" y="248040"/>
                <a:ext cx="9165240" cy="5616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3" name=""/>
              <p:cNvSpPr/>
              <p:nvPr/>
            </p:nvSpPr>
            <p:spPr>
              <a:xfrm rot="21435600">
                <a:off x="-18720" y="52416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440" bIns="-464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/>
          <p:cNvSpPr/>
          <p:nvPr/>
        </p:nvSpPr>
        <p:spPr>
          <a:xfrm>
            <a:off x="-9360" y="-7920"/>
            <a:ext cx="9162720" cy="1041480"/>
          </a:xfrm>
          <a:custGeom>
            <a:avLst/>
            <a:gdLst>
              <a:gd name="textAreaLeft" fmla="*/ 0 w 9162720"/>
              <a:gd name="textAreaRight" fmla="*/ 9163080 w 9162720"/>
              <a:gd name="textAreaTop" fmla="*/ 0 h 1041480"/>
              <a:gd name="textAreaBottom" fmla="*/ 1041480 h 1041480"/>
            </a:gdLst>
            <a:ahLst/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9af">
                  <a:alpha val="45098"/>
                </a:srgbClr>
              </a:gs>
              <a:gs pos="100000">
                <a:srgbClr val="00ebf8">
                  <a:alpha val="55294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Freeform 7"/>
          <p:cNvSpPr/>
          <p:nvPr/>
        </p:nvSpPr>
        <p:spPr>
          <a:xfrm>
            <a:off x="4381560" y="-7920"/>
            <a:ext cx="4762440" cy="638280"/>
          </a:xfrm>
          <a:custGeom>
            <a:avLst/>
            <a:gdLst>
              <a:gd name="textAreaLeft" fmla="*/ 0 w 4762440"/>
              <a:gd name="textAreaRight" fmla="*/ 4762800 w 4762440"/>
              <a:gd name="textAreaTop" fmla="*/ 0 h 638280"/>
              <a:gd name="textAreaBottom" fmla="*/ 638640 h 638280"/>
            </a:gdLst>
            <a:ahLst/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db6">
                  <a:alpha val="45098"/>
                </a:srgbClr>
              </a:gs>
              <a:gs pos="100000">
                <a:srgbClr val="009be5">
                  <a:alpha val="30196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" name="Group 1"/>
          <p:cNvGrpSpPr/>
          <p:nvPr/>
        </p:nvGrpSpPr>
        <p:grpSpPr>
          <a:xfrm>
            <a:off x="-19080" y="203040"/>
            <a:ext cx="9181080" cy="648000"/>
            <a:chOff x="-19080" y="203040"/>
            <a:chExt cx="9181080" cy="648000"/>
          </a:xfrm>
        </p:grpSpPr>
        <p:grpSp>
          <p:nvGrpSpPr>
            <p:cNvPr id="17" name="Freeform 11"/>
            <p:cNvGrpSpPr/>
            <p:nvPr/>
          </p:nvGrpSpPr>
          <p:grpSpPr>
            <a:xfrm>
              <a:off x="-19080" y="203040"/>
              <a:ext cx="9156600" cy="648000"/>
              <a:chOff x="-19080" y="203040"/>
              <a:chExt cx="9156600" cy="648000"/>
            </a:xfrm>
          </p:grpSpPr>
          <p:pic>
            <p:nvPicPr>
              <p:cNvPr id="18" name="Freeform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3960" y="203040"/>
                <a:ext cx="9133560" cy="6480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9" name=""/>
              <p:cNvSpPr/>
              <p:nvPr/>
            </p:nvSpPr>
            <p:spPr>
              <a:xfrm rot="21435600">
                <a:off x="-18720" y="47880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440" bIns="-464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0" name="Freeform 12"/>
            <p:cNvGrpSpPr/>
            <p:nvPr/>
          </p:nvGrpSpPr>
          <p:grpSpPr>
            <a:xfrm>
              <a:off x="-19080" y="248040"/>
              <a:ext cx="9181080" cy="561600"/>
              <a:chOff x="-19080" y="248040"/>
              <a:chExt cx="9181080" cy="561600"/>
            </a:xfrm>
          </p:grpSpPr>
          <p:pic>
            <p:nvPicPr>
              <p:cNvPr id="21" name="Freeform 12" descr=""/>
              <p:cNvPicPr/>
              <p:nvPr/>
            </p:nvPicPr>
            <p:blipFill>
              <a:blip r:embed="rId4"/>
              <a:stretch/>
            </p:blipFill>
            <p:spPr>
              <a:xfrm>
                <a:off x="-3240" y="248040"/>
                <a:ext cx="9165240" cy="5616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22" name=""/>
              <p:cNvSpPr/>
              <p:nvPr/>
            </p:nvSpPr>
            <p:spPr>
              <a:xfrm rot="21435600">
                <a:off x="-18720" y="52416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440" bIns="-464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000" spc="-1" strike="noStrike">
                <a:solidFill>
                  <a:srgbClr val="dbf5f9"/>
                </a:solidFill>
                <a:latin typeface="Calibri"/>
              </a:rPr>
              <a:t>Click to edit the title text format</a:t>
            </a:r>
            <a:endParaRPr b="0" lang="en-US" sz="5000" spc="-1" strike="noStrike">
              <a:solidFill>
                <a:srgbClr val="dbf5f9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Constantia"/>
              </a:rPr>
              <a:t>Click to edit the outline text format</a:t>
            </a:r>
            <a:endParaRPr b="0" lang="en-US" sz="2600" spc="-1" strike="noStrike">
              <a:solidFill>
                <a:srgbClr val="ffffff"/>
              </a:solidFill>
              <a:latin typeface="Constantia"/>
            </a:endParaRPr>
          </a:p>
          <a:p>
            <a:pPr lvl="1" marL="639720" indent="-245880">
              <a:spcBef>
                <a:spcPts val="64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Constantia"/>
              </a:rPr>
              <a:t>Second Outline Level</a:t>
            </a:r>
            <a:endParaRPr b="0" lang="en-US" sz="2600" spc="-1" strike="noStrike">
              <a:solidFill>
                <a:srgbClr val="ffffff"/>
              </a:solidFill>
              <a:latin typeface="Constantia"/>
            </a:endParaRPr>
          </a:p>
          <a:p>
            <a:pPr lvl="2" marL="914400" indent="-246240">
              <a:spcBef>
                <a:spcPts val="649"/>
              </a:spcBef>
              <a:buClr>
                <a:srgbClr val="009dd9"/>
              </a:buClr>
              <a:buSzPct val="7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Constantia"/>
              </a:rPr>
              <a:t>Third Outline Level</a:t>
            </a:r>
            <a:endParaRPr b="0" lang="en-US" sz="2600" spc="-1" strike="noStrike">
              <a:solidFill>
                <a:srgbClr val="ffffff"/>
              </a:solidFill>
              <a:latin typeface="Constantia"/>
            </a:endParaRPr>
          </a:p>
          <a:p>
            <a:pPr lvl="3" marL="1187280" indent="-209520">
              <a:spcBef>
                <a:spcPts val="649"/>
              </a:spcBef>
              <a:buClr>
                <a:srgbClr val="0bd0d9"/>
              </a:buClr>
              <a:buSzPct val="6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Constantia"/>
              </a:rPr>
              <a:t>Fourth Outline Level</a:t>
            </a:r>
            <a:endParaRPr b="0" lang="en-US" sz="2600" spc="-1" strike="noStrike">
              <a:solidFill>
                <a:srgbClr val="ffffff"/>
              </a:solidFill>
              <a:latin typeface="Constantia"/>
            </a:endParaRPr>
          </a:p>
          <a:p>
            <a:pPr lvl="4" marL="1461960" indent="-209520">
              <a:spcBef>
                <a:spcPts val="649"/>
              </a:spcBef>
              <a:buClr>
                <a:srgbClr val="10cf9b"/>
              </a:buClr>
              <a:buSzPct val="6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Constantia"/>
              </a:rPr>
              <a:t>Fifth Outline Level</a:t>
            </a:r>
            <a:endParaRPr b="0" lang="en-US" sz="2600" spc="-1" strike="noStrike">
              <a:solidFill>
                <a:srgbClr val="ffffff"/>
              </a:solidFill>
              <a:latin typeface="Constantia"/>
            </a:endParaRPr>
          </a:p>
          <a:p>
            <a:pPr lvl="5" marL="1461960" indent="-209520">
              <a:spcBef>
                <a:spcPts val="649"/>
              </a:spcBef>
              <a:buClr>
                <a:srgbClr val="ffffff"/>
              </a:buClr>
              <a:buSzPct val="6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Constantia"/>
              </a:rPr>
              <a:t>Sixth Outline Level</a:t>
            </a:r>
            <a:endParaRPr b="0" lang="en-US" sz="2600" spc="-1" strike="noStrike">
              <a:solidFill>
                <a:srgbClr val="ffffff"/>
              </a:solidFill>
              <a:latin typeface="Constantia"/>
            </a:endParaRPr>
          </a:p>
          <a:p>
            <a:pPr lvl="6" marL="1461960" indent="-209520">
              <a:spcBef>
                <a:spcPts val="649"/>
              </a:spcBef>
              <a:buClr>
                <a:srgbClr val="ffffff"/>
              </a:buClr>
              <a:buSzPct val="6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Constantia"/>
              </a:rPr>
              <a:t>Seventh Outline Level</a:t>
            </a:r>
            <a:endParaRPr b="0" lang="en-US" sz="2600" spc="-1" strike="noStrike">
              <a:solidFill>
                <a:srgbClr val="ffffff"/>
              </a:solidFill>
              <a:latin typeface="Constanti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4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5"/>
          </p:nvPr>
        </p:nvSpPr>
        <p:spPr>
          <a:xfrm>
            <a:off x="2666880" y="6356520"/>
            <a:ext cx="3353040" cy="3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6"/>
          </p:nvPr>
        </p:nvSpPr>
        <p:spPr>
          <a:xfrm>
            <a:off x="792432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200" spc="-1" strike="noStrike">
                <a:solidFill>
                  <a:srgbClr val="d1eaee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31DC386-DFDB-4CBC-8824-8FF8EFBDAD0B}" type="slidenum">
              <a:rPr b="0" lang="en-GB" sz="1200" spc="-1" strike="noStrike">
                <a:solidFill>
                  <a:srgbClr val="d1eaee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6"/>
          <p:cNvSpPr/>
          <p:nvPr/>
        </p:nvSpPr>
        <p:spPr>
          <a:xfrm>
            <a:off x="-9360" y="-7920"/>
            <a:ext cx="9162720" cy="1041480"/>
          </a:xfrm>
          <a:custGeom>
            <a:avLst/>
            <a:gdLst>
              <a:gd name="textAreaLeft" fmla="*/ 0 w 9162720"/>
              <a:gd name="textAreaRight" fmla="*/ 9163080 w 9162720"/>
              <a:gd name="textAreaTop" fmla="*/ 0 h 1041480"/>
              <a:gd name="textAreaBottom" fmla="*/ 1041480 h 1041480"/>
            </a:gdLst>
            <a:ahLst/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9af">
                  <a:alpha val="45098"/>
                </a:srgbClr>
              </a:gs>
              <a:gs pos="100000">
                <a:srgbClr val="00ebf8">
                  <a:alpha val="55294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Freeform 7"/>
          <p:cNvSpPr/>
          <p:nvPr/>
        </p:nvSpPr>
        <p:spPr>
          <a:xfrm>
            <a:off x="4381560" y="-7920"/>
            <a:ext cx="4762440" cy="638280"/>
          </a:xfrm>
          <a:custGeom>
            <a:avLst/>
            <a:gdLst>
              <a:gd name="textAreaLeft" fmla="*/ 0 w 4762440"/>
              <a:gd name="textAreaRight" fmla="*/ 4762800 w 4762440"/>
              <a:gd name="textAreaTop" fmla="*/ 0 h 638280"/>
              <a:gd name="textAreaBottom" fmla="*/ 638640 h 638280"/>
            </a:gdLst>
            <a:ahLst/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db6">
                  <a:alpha val="45098"/>
                </a:srgbClr>
              </a:gs>
              <a:gs pos="100000">
                <a:srgbClr val="009be5">
                  <a:alpha val="30196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" name="Group 1"/>
          <p:cNvGrpSpPr/>
          <p:nvPr/>
        </p:nvGrpSpPr>
        <p:grpSpPr>
          <a:xfrm>
            <a:off x="-19080" y="203040"/>
            <a:ext cx="9181080" cy="648000"/>
            <a:chOff x="-19080" y="203040"/>
            <a:chExt cx="9181080" cy="648000"/>
          </a:xfrm>
        </p:grpSpPr>
        <p:grpSp>
          <p:nvGrpSpPr>
            <p:cNvPr id="31" name="Freeform 11"/>
            <p:cNvGrpSpPr/>
            <p:nvPr/>
          </p:nvGrpSpPr>
          <p:grpSpPr>
            <a:xfrm>
              <a:off x="-19080" y="203040"/>
              <a:ext cx="9156600" cy="648000"/>
              <a:chOff x="-19080" y="203040"/>
              <a:chExt cx="9156600" cy="648000"/>
            </a:xfrm>
          </p:grpSpPr>
          <p:pic>
            <p:nvPicPr>
              <p:cNvPr id="32" name="Freeform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3960" y="203040"/>
                <a:ext cx="9133560" cy="6480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33" name=""/>
              <p:cNvSpPr/>
              <p:nvPr/>
            </p:nvSpPr>
            <p:spPr>
              <a:xfrm rot="21435600">
                <a:off x="-18720" y="47880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440" bIns="-464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34" name="Freeform 12"/>
            <p:cNvGrpSpPr/>
            <p:nvPr/>
          </p:nvGrpSpPr>
          <p:grpSpPr>
            <a:xfrm>
              <a:off x="-19080" y="248040"/>
              <a:ext cx="9181080" cy="561600"/>
              <a:chOff x="-19080" y="248040"/>
              <a:chExt cx="9181080" cy="561600"/>
            </a:xfrm>
          </p:grpSpPr>
          <p:pic>
            <p:nvPicPr>
              <p:cNvPr id="35" name="Freeform 12" descr=""/>
              <p:cNvPicPr/>
              <p:nvPr/>
            </p:nvPicPr>
            <p:blipFill>
              <a:blip r:embed="rId4"/>
              <a:stretch/>
            </p:blipFill>
            <p:spPr>
              <a:xfrm>
                <a:off x="-3240" y="248040"/>
                <a:ext cx="9165240" cy="5616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36" name=""/>
              <p:cNvSpPr/>
              <p:nvPr/>
            </p:nvSpPr>
            <p:spPr>
              <a:xfrm rot="21435600">
                <a:off x="-18720" y="52416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440" bIns="-464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000" spc="-1" strike="noStrike">
                <a:solidFill>
                  <a:srgbClr val="dbf5f9"/>
                </a:solidFill>
                <a:latin typeface="Calibri"/>
              </a:rPr>
              <a:t>Click to edit the title text format</a:t>
            </a:r>
            <a:endParaRPr b="0" lang="en-US" sz="5000" spc="-1" strike="noStrike">
              <a:solidFill>
                <a:srgbClr val="dbf5f9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Constantia"/>
              </a:rPr>
              <a:t>Click to edit the outline text format</a:t>
            </a:r>
            <a:endParaRPr b="0" lang="en-US" sz="2600" spc="-1" strike="noStrike">
              <a:solidFill>
                <a:srgbClr val="ffffff"/>
              </a:solidFill>
              <a:latin typeface="Constantia"/>
            </a:endParaRPr>
          </a:p>
          <a:p>
            <a:pPr lvl="1" marL="639720" indent="-245880">
              <a:spcBef>
                <a:spcPts val="64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Constantia"/>
              </a:rPr>
              <a:t>Second Outline Level</a:t>
            </a:r>
            <a:endParaRPr b="0" lang="en-US" sz="2600" spc="-1" strike="noStrike">
              <a:solidFill>
                <a:srgbClr val="ffffff"/>
              </a:solidFill>
              <a:latin typeface="Constantia"/>
            </a:endParaRPr>
          </a:p>
          <a:p>
            <a:pPr lvl="2" marL="914400" indent="-246240">
              <a:spcBef>
                <a:spcPts val="649"/>
              </a:spcBef>
              <a:buClr>
                <a:srgbClr val="009dd9"/>
              </a:buClr>
              <a:buSzPct val="7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Constantia"/>
              </a:rPr>
              <a:t>Third Outline Level</a:t>
            </a:r>
            <a:endParaRPr b="0" lang="en-US" sz="2600" spc="-1" strike="noStrike">
              <a:solidFill>
                <a:srgbClr val="ffffff"/>
              </a:solidFill>
              <a:latin typeface="Constantia"/>
            </a:endParaRPr>
          </a:p>
          <a:p>
            <a:pPr lvl="3" marL="1187280" indent="-209520">
              <a:spcBef>
                <a:spcPts val="649"/>
              </a:spcBef>
              <a:buClr>
                <a:srgbClr val="0bd0d9"/>
              </a:buClr>
              <a:buSzPct val="6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Constantia"/>
              </a:rPr>
              <a:t>Fourth Outline Level</a:t>
            </a:r>
            <a:endParaRPr b="0" lang="en-US" sz="2600" spc="-1" strike="noStrike">
              <a:solidFill>
                <a:srgbClr val="ffffff"/>
              </a:solidFill>
              <a:latin typeface="Constantia"/>
            </a:endParaRPr>
          </a:p>
          <a:p>
            <a:pPr lvl="4" marL="1461960" indent="-209520">
              <a:spcBef>
                <a:spcPts val="649"/>
              </a:spcBef>
              <a:buClr>
                <a:srgbClr val="10cf9b"/>
              </a:buClr>
              <a:buSzPct val="6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Constantia"/>
              </a:rPr>
              <a:t>Fifth Outline Level</a:t>
            </a:r>
            <a:endParaRPr b="0" lang="en-US" sz="2600" spc="-1" strike="noStrike">
              <a:solidFill>
                <a:srgbClr val="ffffff"/>
              </a:solidFill>
              <a:latin typeface="Constantia"/>
            </a:endParaRPr>
          </a:p>
          <a:p>
            <a:pPr lvl="5" marL="1461960" indent="-209520">
              <a:spcBef>
                <a:spcPts val="649"/>
              </a:spcBef>
              <a:buClr>
                <a:srgbClr val="ffffff"/>
              </a:buClr>
              <a:buSzPct val="6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Constantia"/>
              </a:rPr>
              <a:t>Sixth Outline Level</a:t>
            </a:r>
            <a:endParaRPr b="0" lang="en-US" sz="2600" spc="-1" strike="noStrike">
              <a:solidFill>
                <a:srgbClr val="ffffff"/>
              </a:solidFill>
              <a:latin typeface="Constantia"/>
            </a:endParaRPr>
          </a:p>
          <a:p>
            <a:pPr lvl="6" marL="1461960" indent="-209520">
              <a:spcBef>
                <a:spcPts val="649"/>
              </a:spcBef>
              <a:buClr>
                <a:srgbClr val="ffffff"/>
              </a:buClr>
              <a:buSzPct val="6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Constantia"/>
              </a:rPr>
              <a:t>Seventh Outline Level</a:t>
            </a:r>
            <a:endParaRPr b="0" lang="en-US" sz="2600" spc="-1" strike="noStrike">
              <a:solidFill>
                <a:srgbClr val="ffffff"/>
              </a:solidFill>
              <a:latin typeface="Constantia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7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8"/>
          </p:nvPr>
        </p:nvSpPr>
        <p:spPr>
          <a:xfrm>
            <a:off x="2666880" y="6356520"/>
            <a:ext cx="3353040" cy="3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9"/>
          </p:nvPr>
        </p:nvSpPr>
        <p:spPr>
          <a:xfrm>
            <a:off x="792432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200" spc="-1" strike="noStrike">
                <a:solidFill>
                  <a:srgbClr val="d1eaee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CC666A6-5A12-4D8C-ABA6-AEF9E88795FD}" type="slidenum">
              <a:rPr b="0" lang="en-GB" sz="1200" spc="-1" strike="noStrike">
                <a:solidFill>
                  <a:srgbClr val="d1eaee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nip and Round Single Corner Rectangle 13"/>
          <p:cNvSpPr/>
          <p:nvPr/>
        </p:nvSpPr>
        <p:spPr>
          <a:xfrm flipV="1" rot="420000">
            <a:off x="3165480" y="1107000"/>
            <a:ext cx="5257800" cy="4114800"/>
          </a:xfrm>
          <a:custGeom>
            <a:avLst/>
            <a:gdLst/>
            <a:ahLst/>
            <a:rect l="l" t="t" r="r" b="b"/>
            <a:pathLst>
              <a:path w="5257800" h="4114800">
                <a:moveTo>
                  <a:pt x="0" y="0"/>
                </a:moveTo>
                <a:lnTo>
                  <a:pt x="5107774" y="0"/>
                </a:lnTo>
                <a:lnTo>
                  <a:pt x="5257800" y="150026"/>
                </a:lnTo>
                <a:lnTo>
                  <a:pt x="5257800" y="4114800"/>
                </a:lnTo>
                <a:lnTo>
                  <a:pt x="0" y="411480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3240">
            <a:solidFill>
              <a:srgbClr val="c0c0c0"/>
            </a:solidFill>
            <a:round/>
          </a:ln>
          <a:effectLst>
            <a:outerShdw dist="38546" dir="7483739" blurRad="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Right Triangle 14"/>
          <p:cNvSpPr/>
          <p:nvPr/>
        </p:nvSpPr>
        <p:spPr>
          <a:xfrm flipV="1" rot="420000">
            <a:off x="8003880" y="5358960"/>
            <a:ext cx="155520" cy="155520"/>
          </a:xfrm>
          <a:prstGeom prst="rtTriangle">
            <a:avLst/>
          </a:prstGeom>
          <a:solidFill>
            <a:srgbClr val="ffffff"/>
          </a:solidFill>
          <a:ln w="12600">
            <a:solidFill>
              <a:srgbClr val="ffffff"/>
            </a:solidFill>
            <a:bevel/>
          </a:ln>
          <a:effectLst>
            <a:outerShdw dist="6193" dir="12932261" blurRad="0" rotWithShape="0">
              <a:srgbClr val="000000">
                <a:alpha val="4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Freeform 15"/>
          <p:cNvSpPr/>
          <p:nvPr/>
        </p:nvSpPr>
        <p:spPr>
          <a:xfrm flipV="1">
            <a:off x="-9000" y="5815440"/>
            <a:ext cx="9162720" cy="1041480"/>
          </a:xfrm>
          <a:custGeom>
            <a:avLst/>
            <a:gdLst>
              <a:gd name="textAreaLeft" fmla="*/ 0 w 9162720"/>
              <a:gd name="textAreaRight" fmla="*/ 9163080 w 9162720"/>
              <a:gd name="textAreaTop" fmla="*/ 0 h 1041480"/>
              <a:gd name="textAreaBottom" fmla="*/ 1041480 h 1041480"/>
            </a:gdLst>
            <a:ahLst/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9af">
                  <a:alpha val="45098"/>
                </a:srgbClr>
              </a:gs>
              <a:gs pos="100000">
                <a:srgbClr val="00ebf8">
                  <a:alpha val="55294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Freeform 16"/>
          <p:cNvSpPr/>
          <p:nvPr/>
        </p:nvSpPr>
        <p:spPr>
          <a:xfrm flipV="1">
            <a:off x="4381560" y="6219000"/>
            <a:ext cx="4762440" cy="638280"/>
          </a:xfrm>
          <a:custGeom>
            <a:avLst/>
            <a:gdLst>
              <a:gd name="textAreaLeft" fmla="*/ 0 w 4762440"/>
              <a:gd name="textAreaRight" fmla="*/ 4762800 w 4762440"/>
              <a:gd name="textAreaTop" fmla="*/ -360 h 638280"/>
              <a:gd name="textAreaBottom" fmla="*/ 638280 h 638280"/>
            </a:gdLst>
            <a:ahLst/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db6">
                  <a:alpha val="45098"/>
                </a:srgbClr>
              </a:gs>
              <a:gs pos="100000">
                <a:srgbClr val="009be5">
                  <a:alpha val="30196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000" spc="-1" strike="noStrike">
                <a:solidFill>
                  <a:srgbClr val="04617b"/>
                </a:solidFill>
                <a:latin typeface="Calibri"/>
              </a:rPr>
              <a:t>Click to edit the title text format</a:t>
            </a:r>
            <a:endParaRPr b="0" lang="en-US" sz="5000" spc="-1" strike="noStrike">
              <a:solidFill>
                <a:srgbClr val="04617b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onstantia"/>
              </a:rPr>
              <a:t>Click to edit the outline text format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spcBef>
                <a:spcPts val="64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onstantia"/>
              </a:rPr>
              <a:t>Second Outline Level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lvl="2" marL="914400" indent="-246240">
              <a:spcBef>
                <a:spcPts val="649"/>
              </a:spcBef>
              <a:buClr>
                <a:srgbClr val="009dd9"/>
              </a:buClr>
              <a:buSzPct val="7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onstantia"/>
              </a:rPr>
              <a:t>Third Outline Level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lvl="3" marL="1187280" indent="-209520">
              <a:spcBef>
                <a:spcPts val="649"/>
              </a:spcBef>
              <a:buClr>
                <a:srgbClr val="0bd0d9"/>
              </a:buClr>
              <a:buSzPct val="6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onstantia"/>
              </a:rPr>
              <a:t>Fourth Outline Level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lvl="4" marL="1461960" indent="-209520">
              <a:spcBef>
                <a:spcPts val="649"/>
              </a:spcBef>
              <a:buClr>
                <a:srgbClr val="10cf9b"/>
              </a:buClr>
              <a:buSzPct val="6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onstantia"/>
              </a:rPr>
              <a:t>Fifth Outline Level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lvl="5" marL="1461960" indent="-209520">
              <a:spcBef>
                <a:spcPts val="649"/>
              </a:spcBef>
              <a:buClr>
                <a:srgbClr val="000000"/>
              </a:buClr>
              <a:buSzPct val="6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onstantia"/>
              </a:rPr>
              <a:t>Sixth Outline Level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lvl="6" marL="1461960" indent="-209520">
              <a:spcBef>
                <a:spcPts val="649"/>
              </a:spcBef>
              <a:buClr>
                <a:srgbClr val="000000"/>
              </a:buClr>
              <a:buSzPct val="6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onstantia"/>
              </a:rPr>
              <a:t>Seventh Outline Level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10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11"/>
          </p:nvPr>
        </p:nvSpPr>
        <p:spPr>
          <a:xfrm>
            <a:off x="2666880" y="6356520"/>
            <a:ext cx="3353040" cy="3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12"/>
          </p:nvPr>
        </p:nvSpPr>
        <p:spPr>
          <a:xfrm>
            <a:off x="8076960" y="6356520"/>
            <a:ext cx="609480" cy="3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200" spc="-1" strike="noStrike">
                <a:solidFill>
                  <a:srgbClr val="045c75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91D98C3-3B03-414A-ADE6-090C90FD3C11}" type="slidenum">
              <a:rPr b="0" lang="en-GB" sz="1200" spc="-1" strike="noStrike">
                <a:solidFill>
                  <a:srgbClr val="045c75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Rectangle 2" descr=""/>
          <p:cNvPicPr/>
          <p:nvPr/>
        </p:nvPicPr>
        <p:blipFill>
          <a:blip r:embed="rId1"/>
          <a:stretch/>
        </p:blipFill>
        <p:spPr>
          <a:xfrm>
            <a:off x="609480" y="622440"/>
            <a:ext cx="8309160" cy="2322360"/>
          </a:xfrm>
          <a:prstGeom prst="rect">
            <a:avLst/>
          </a:prstGeom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539640" y="2491920"/>
            <a:ext cx="7855200" cy="1752840"/>
          </a:xfrm>
          <a:prstGeom prst="rect">
            <a:avLst/>
          </a:prstGeom>
          <a:noFill/>
          <a:ln w="0">
            <a:noFill/>
          </a:ln>
        </p:spPr>
        <p:txBody>
          <a:bodyPr lIns="0" rIns="18360" tIns="45720" bIns="45720" anchor="t">
            <a:noAutofit/>
          </a:bodyPr>
          <a:p>
            <a:pPr algn="r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ffffff"/>
                </a:solidFill>
                <a:latin typeface="Constantia"/>
              </a:rPr>
              <a:t>Pulmonary Rehabilitation Physiotherapist</a:t>
            </a:r>
            <a:endParaRPr b="0" lang="en-US" sz="2600" spc="-1" strike="noStrike">
              <a:solidFill>
                <a:srgbClr val="ffffff"/>
              </a:solidFill>
              <a:latin typeface="Constantia"/>
            </a:endParaRPr>
          </a:p>
        </p:txBody>
      </p:sp>
      <p:pic>
        <p:nvPicPr>
          <p:cNvPr id="60" name="Picture 4" descr="C:\Users\Skip\Downloads\1043.jpg"/>
          <p:cNvPicPr/>
          <p:nvPr/>
        </p:nvPicPr>
        <p:blipFill>
          <a:blip r:embed="rId2"/>
          <a:stretch/>
        </p:blipFill>
        <p:spPr>
          <a:xfrm>
            <a:off x="4427640" y="3483000"/>
            <a:ext cx="4336920" cy="30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5000" spc="-1" strike="noStrike">
                <a:solidFill>
                  <a:srgbClr val="04617b"/>
                </a:solidFill>
                <a:latin typeface="Calibri"/>
              </a:rPr>
              <a:t>Congratulations </a:t>
            </a:r>
            <a:endParaRPr b="0" lang="en-US" sz="5000" spc="-1" strike="noStrike">
              <a:solidFill>
                <a:srgbClr val="04617b"/>
              </a:solidFill>
              <a:latin typeface="Calibri"/>
            </a:endParaRPr>
          </a:p>
        </p:txBody>
      </p:sp>
      <p:pic>
        <p:nvPicPr>
          <p:cNvPr id="62" name="Picture 4" descr="C:\Users\Skip\Downloads\congratulations0an8.jpg"/>
          <p:cNvPicPr/>
          <p:nvPr/>
        </p:nvPicPr>
        <p:blipFill>
          <a:blip r:embed="rId1"/>
          <a:stretch/>
        </p:blipFill>
        <p:spPr>
          <a:xfrm>
            <a:off x="2411280" y="2421000"/>
            <a:ext cx="4176720" cy="394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5000" spc="-1" strike="noStrike">
                <a:solidFill>
                  <a:srgbClr val="04617b"/>
                </a:solidFill>
                <a:latin typeface="Calibri"/>
              </a:rPr>
              <a:t>What we will cover today</a:t>
            </a:r>
            <a:endParaRPr b="0" lang="en-US" sz="5000" spc="-1" strike="noStrike">
              <a:solidFill>
                <a:srgbClr val="04617b"/>
              </a:solidFill>
              <a:latin typeface="Calibri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9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What is “good” breathing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What is “bad” breathing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Why do we breathe incorrectly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How can breathing incorrectly make us feel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What we can do about it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What to do when you are suddenly short of breath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How to breathe when you are exercising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5000" spc="-1" strike="noStrike">
                <a:solidFill>
                  <a:srgbClr val="04617b"/>
                </a:solidFill>
                <a:latin typeface="Calibri"/>
              </a:rPr>
              <a:t>What is “good” breathing?</a:t>
            </a:r>
            <a:endParaRPr b="0" lang="en-US" sz="5000" spc="-1" strike="noStrike">
              <a:solidFill>
                <a:srgbClr val="04617b"/>
              </a:solidFill>
              <a:latin typeface="Calibri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70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800" spc="-1" strike="noStrike">
                <a:solidFill>
                  <a:srgbClr val="000000"/>
                </a:solidFill>
                <a:latin typeface="Constantia"/>
              </a:rPr>
              <a:t>Diaphragm </a:t>
            </a:r>
            <a:endParaRPr b="0" lang="en-US" sz="28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Marathon runner of all muscles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Efficient 3% of energy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70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800" spc="-1" strike="noStrike">
                <a:solidFill>
                  <a:srgbClr val="000000"/>
                </a:solidFill>
                <a:latin typeface="Constantia"/>
              </a:rPr>
              <a:t>Nose </a:t>
            </a:r>
            <a:endParaRPr b="0" lang="en-US" sz="28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Humidifer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Filter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70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800" spc="-1" strike="noStrike">
                <a:solidFill>
                  <a:srgbClr val="000000"/>
                </a:solidFill>
                <a:latin typeface="Constantia"/>
              </a:rPr>
              <a:t>8-16 breaths a minute</a:t>
            </a:r>
            <a:endParaRPr b="0" lang="en-US" sz="28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70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800" spc="-1" strike="noStrike">
                <a:solidFill>
                  <a:srgbClr val="000000"/>
                </a:solidFill>
                <a:latin typeface="Constantia"/>
              </a:rPr>
              <a:t>In for count of 1 and out for count of 2</a:t>
            </a:r>
            <a:endParaRPr b="0" lang="en-US" sz="28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</p:txBody>
      </p:sp>
      <p:pic>
        <p:nvPicPr>
          <p:cNvPr id="67" name="Picture 5" descr="C:\Users\Skip\Downloads\breathing-techniques-for-anxiety1.jpg"/>
          <p:cNvPicPr/>
          <p:nvPr/>
        </p:nvPicPr>
        <p:blipFill>
          <a:blip r:embed="rId1"/>
          <a:stretch/>
        </p:blipFill>
        <p:spPr>
          <a:xfrm>
            <a:off x="5580000" y="2133720"/>
            <a:ext cx="3314880" cy="280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0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3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6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9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2" dur="500"/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5" dur="500"/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8" dur="500"/>
                                        <p:tgtEl>
                                          <p:spTgt spid="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5000" spc="-1" strike="noStrike">
                <a:solidFill>
                  <a:srgbClr val="04617b"/>
                </a:solidFill>
                <a:latin typeface="Calibri"/>
              </a:rPr>
              <a:t>What is “bad” breathing?</a:t>
            </a:r>
            <a:endParaRPr b="0" lang="en-US" sz="5000" spc="-1" strike="noStrike">
              <a:solidFill>
                <a:srgbClr val="04617b"/>
              </a:solidFill>
              <a:latin typeface="Calibri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Disordered breathing pattern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Breathing too much for what the body needs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Blow off too much carbon dioxide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Have too much adrenaline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Fight and flight 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No rest and digest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5000" spc="-1" strike="noStrike">
                <a:solidFill>
                  <a:srgbClr val="04617b"/>
                </a:solidFill>
                <a:latin typeface="Calibri"/>
              </a:rPr>
              <a:t>Why do be breathe incorrectly?</a:t>
            </a:r>
            <a:endParaRPr b="0" lang="en-US" sz="5000" spc="-1" strike="noStrike">
              <a:solidFill>
                <a:srgbClr val="04617b"/>
              </a:solidFill>
              <a:latin typeface="Calibri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There is a time and place  - acute stress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However it can become a habit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Chronic illness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Blocked nose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Stress/ anxiety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</p:txBody>
      </p:sp>
      <p:pic>
        <p:nvPicPr>
          <p:cNvPr id="72" name="Picture 4" descr="C:\Users\Skip\Downloads\stresssymptom1.jpg"/>
          <p:cNvPicPr/>
          <p:nvPr/>
        </p:nvPicPr>
        <p:blipFill>
          <a:blip r:embed="rId1"/>
          <a:stretch/>
        </p:blipFill>
        <p:spPr>
          <a:xfrm>
            <a:off x="5651640" y="2637000"/>
            <a:ext cx="3036600" cy="378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68360" y="1886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5000" spc="-1" strike="noStrike">
                <a:solidFill>
                  <a:srgbClr val="0033cc"/>
                </a:solidFill>
                <a:latin typeface="Calibri"/>
              </a:rPr>
              <a:t>How does this happen?</a:t>
            </a:r>
            <a:endParaRPr b="0" lang="en-US" sz="5000" spc="-1" strike="noStrike">
              <a:solidFill>
                <a:srgbClr val="04617b"/>
              </a:solidFill>
              <a:latin typeface="Calibri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457200" y="1600200"/>
            <a:ext cx="403704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90000"/>
              </a:lnSpc>
              <a:spcBef>
                <a:spcPts val="601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601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601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601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601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85000"/>
              <a:buFont typeface="Constanti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85000"/>
              <a:buFont typeface="Constanti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000000"/>
                </a:solidFill>
                <a:latin typeface="Constantia"/>
              </a:rPr>
              <a:t>Mouth breathing</a:t>
            </a:r>
            <a:endParaRPr b="0" lang="en-US" sz="20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000000"/>
                </a:solidFill>
                <a:latin typeface="Constantia"/>
              </a:rPr>
              <a:t>Chest muscle overuse</a:t>
            </a:r>
            <a:r>
              <a:rPr b="0" lang="en-NZ" sz="2000" spc="-1" strike="noStrike">
                <a:solidFill>
                  <a:srgbClr val="000000"/>
                </a:solidFill>
                <a:latin typeface="Constantia"/>
              </a:rPr>
              <a:t>	</a:t>
            </a:r>
            <a:endParaRPr b="0" lang="en-US" sz="20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000000"/>
                </a:solidFill>
                <a:latin typeface="Constantia"/>
              </a:rPr>
              <a:t>Shoulder/ chest tension</a:t>
            </a:r>
            <a:endParaRPr b="0" lang="en-US" sz="20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000000"/>
                </a:solidFill>
                <a:latin typeface="Constantia"/>
              </a:rPr>
              <a:t>Abdominal tension</a:t>
            </a:r>
            <a:endParaRPr b="0" lang="en-US" sz="2000" spc="-1" strike="noStrike">
              <a:solidFill>
                <a:srgbClr val="000000"/>
              </a:solidFill>
              <a:latin typeface="Constantia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49760" y="1600200"/>
            <a:ext cx="403704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8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8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8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8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8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8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000000"/>
                </a:solidFill>
                <a:latin typeface="Constantia"/>
              </a:rPr>
              <a:t>All can lead to over breathing </a:t>
            </a:r>
            <a:endParaRPr b="0" lang="en-US" sz="20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000000"/>
                </a:solidFill>
                <a:latin typeface="Constantia"/>
              </a:rPr>
              <a:t>and ultimately </a:t>
            </a:r>
            <a:endParaRPr b="0" lang="en-US" sz="20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000000"/>
                </a:solidFill>
                <a:latin typeface="Constantia"/>
              </a:rPr>
              <a:t>poor diaphragm use</a:t>
            </a:r>
            <a:endParaRPr b="0" lang="en-US" sz="2000" spc="-1" strike="noStrike">
              <a:solidFill>
                <a:srgbClr val="000000"/>
              </a:solidFill>
              <a:latin typeface="Constantia"/>
            </a:endParaRPr>
          </a:p>
        </p:txBody>
      </p:sp>
      <p:pic>
        <p:nvPicPr>
          <p:cNvPr id="76" name="Picture 5" descr="diaphragm"/>
          <p:cNvPicPr/>
          <p:nvPr/>
        </p:nvPicPr>
        <p:blipFill>
          <a:blip r:embed="rId1"/>
          <a:stretch/>
        </p:blipFill>
        <p:spPr>
          <a:xfrm>
            <a:off x="2341440" y="1628640"/>
            <a:ext cx="4476960" cy="2857680"/>
          </a:xfrm>
          <a:prstGeom prst="rect">
            <a:avLst/>
          </a:prstGeom>
          <a:ln w="0">
            <a:noFill/>
          </a:ln>
        </p:spPr>
      </p:pic>
      <p:sp>
        <p:nvSpPr>
          <p:cNvPr id="77" name="AutoShape 6"/>
          <p:cNvSpPr/>
          <p:nvPr/>
        </p:nvSpPr>
        <p:spPr>
          <a:xfrm>
            <a:off x="4284720" y="5013360"/>
            <a:ext cx="216000" cy="1152360"/>
          </a:xfrm>
          <a:custGeom>
            <a:avLst/>
            <a:gdLst>
              <a:gd name="textAreaLeft" fmla="*/ 0 w 216000"/>
              <a:gd name="textAreaRight" fmla="*/ 78120 w 216000"/>
              <a:gd name="textAreaTop" fmla="*/ 29880 h 1152360"/>
              <a:gd name="textAreaBottom" fmla="*/ 1122480 h 1152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16200" y="10800"/>
                  <a:pt x="21600" y="10800"/>
                </a:cubicBezTo>
                <a:cubicBezTo>
                  <a:pt x="162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5400" y="21600"/>
                  <a:pt x="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68360" y="691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000" spc="-1" strike="noStrike">
                <a:solidFill>
                  <a:srgbClr val="0033cc"/>
                </a:solidFill>
                <a:latin typeface="Calibri"/>
              </a:rPr>
              <a:t>Good breathing </a:t>
            </a:r>
            <a:br>
              <a:rPr sz="4000"/>
            </a:br>
            <a:r>
              <a:rPr b="0" lang="en-NZ" sz="4000" spc="-1" strike="noStrike">
                <a:solidFill>
                  <a:srgbClr val="0033cc"/>
                </a:solidFill>
                <a:latin typeface="Calibri"/>
              </a:rPr>
              <a:t>	</a:t>
            </a:r>
            <a:r>
              <a:rPr b="0" lang="en-NZ" sz="4000" spc="-1" strike="noStrike">
                <a:solidFill>
                  <a:srgbClr val="0033cc"/>
                </a:solidFill>
                <a:latin typeface="Calibri"/>
              </a:rPr>
              <a:t>	</a:t>
            </a:r>
            <a:r>
              <a:rPr b="0" lang="en-NZ" sz="4000" spc="-1" strike="noStrike">
                <a:solidFill>
                  <a:srgbClr val="0033cc"/>
                </a:solidFill>
                <a:latin typeface="Calibri"/>
              </a:rPr>
              <a:t>	</a:t>
            </a:r>
            <a:r>
              <a:rPr b="0" lang="en-NZ" sz="4000" spc="-1" strike="noStrike">
                <a:solidFill>
                  <a:srgbClr val="0033cc"/>
                </a:solidFill>
                <a:latin typeface="Calibri"/>
              </a:rPr>
              <a:t>    vs. </a:t>
            </a:r>
            <a:br>
              <a:rPr sz="4000"/>
            </a:br>
            <a:r>
              <a:rPr b="0" lang="en-NZ" sz="4000" spc="-1" strike="noStrike">
                <a:solidFill>
                  <a:srgbClr val="0033cc"/>
                </a:solidFill>
                <a:latin typeface="Calibri"/>
              </a:rPr>
              <a:t>	</a:t>
            </a:r>
            <a:r>
              <a:rPr b="0" lang="en-NZ" sz="4000" spc="-1" strike="noStrike">
                <a:solidFill>
                  <a:srgbClr val="0033cc"/>
                </a:solidFill>
                <a:latin typeface="Calibri"/>
              </a:rPr>
              <a:t>	</a:t>
            </a:r>
            <a:r>
              <a:rPr b="0" lang="en-NZ" sz="4000" spc="-1" strike="noStrike">
                <a:solidFill>
                  <a:srgbClr val="0033cc"/>
                </a:solidFill>
                <a:latin typeface="Calibri"/>
              </a:rPr>
              <a:t>	</a:t>
            </a:r>
            <a:r>
              <a:rPr b="0" lang="en-NZ" sz="4000" spc="-1" strike="noStrike">
                <a:solidFill>
                  <a:srgbClr val="0033cc"/>
                </a:solidFill>
                <a:latin typeface="Calibri"/>
              </a:rPr>
              <a:t>Disordered breathing</a:t>
            </a:r>
            <a:endParaRPr b="0" lang="en-US" sz="4000" spc="-1" strike="noStrike">
              <a:solidFill>
                <a:srgbClr val="04617b"/>
              </a:solidFill>
              <a:latin typeface="Calibri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468000" y="1916280"/>
            <a:ext cx="401148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onstantia"/>
              </a:rPr>
              <a:t>Stomach movement </a:t>
            </a: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onstantia"/>
              </a:rPr>
              <a:t>Relaxed</a:t>
            </a: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onstantia"/>
              </a:rPr>
              <a:t>Longer out breath</a:t>
            </a: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onstantia"/>
              </a:rPr>
              <a:t>Nose breathing</a:t>
            </a: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onstantia"/>
              </a:rPr>
              <a:t>Relaxed stomach and shoulders</a:t>
            </a: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onstantia"/>
              </a:rPr>
              <a:t>Good diaphragm use</a:t>
            </a: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4643280" y="1988640"/>
            <a:ext cx="4011840" cy="452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onstantia"/>
              </a:rPr>
              <a:t>Upper chest movement</a:t>
            </a: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onstantia"/>
              </a:rPr>
              <a:t>Fast or deep</a:t>
            </a: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onstantia"/>
              </a:rPr>
              <a:t>Sighs, yawns</a:t>
            </a: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onstantia"/>
              </a:rPr>
              <a:t>Mouth breathing</a:t>
            </a: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onstantia"/>
              </a:rPr>
              <a:t>Tense stomach and shoulders</a:t>
            </a: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onstantia"/>
              </a:rPr>
              <a:t>Diaphragm weakness</a:t>
            </a:r>
            <a:endParaRPr b="0" lang="en-US" sz="2200" spc="-1" strike="noStrike">
              <a:solidFill>
                <a:srgbClr val="000000"/>
              </a:solidFill>
              <a:latin typeface="Constantia"/>
            </a:endParaRPr>
          </a:p>
        </p:txBody>
      </p:sp>
      <p:sp>
        <p:nvSpPr>
          <p:cNvPr id="81" name="AutoShape 5"/>
          <p:cNvSpPr/>
          <p:nvPr/>
        </p:nvSpPr>
        <p:spPr>
          <a:xfrm>
            <a:off x="1116000" y="1773360"/>
            <a:ext cx="2232000" cy="1584360"/>
          </a:xfrm>
          <a:prstGeom prst="triangle">
            <a:avLst>
              <a:gd name="adj" fmla="val 50000"/>
            </a:avLst>
          </a:prstGeom>
          <a:solidFill>
            <a:srgbClr val="0f6fc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AutoShape 6"/>
          <p:cNvSpPr/>
          <p:nvPr/>
        </p:nvSpPr>
        <p:spPr>
          <a:xfrm rot="10800000">
            <a:off x="5580000" y="1988640"/>
            <a:ext cx="2232000" cy="1584360"/>
          </a:xfrm>
          <a:prstGeom prst="triangle">
            <a:avLst>
              <a:gd name="adj" fmla="val 50000"/>
            </a:avLst>
          </a:prstGeom>
          <a:solidFill>
            <a:srgbClr val="0f6fc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5000" spc="-1" strike="noStrike">
                <a:solidFill>
                  <a:srgbClr val="3333cc"/>
                </a:solidFill>
                <a:latin typeface="Calibri"/>
              </a:rPr>
              <a:t>How can it make us feel?</a:t>
            </a:r>
            <a:endParaRPr b="0" lang="en-US" sz="5000" spc="-1" strike="noStrike">
              <a:solidFill>
                <a:srgbClr val="04617b"/>
              </a:solidFill>
              <a:latin typeface="Calibri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649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Many different signs and symptoms that affect everyone differently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00000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Can affect the entire body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spcBef>
                <a:spcPts val="601"/>
              </a:spcBef>
              <a:buClr>
                <a:srgbClr val="000000"/>
              </a:buClr>
              <a:buSzPct val="85000"/>
              <a:buFont typeface="Constanti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Dizziness, nausea, chest pain, short of breath, suffocation feeling, air hunger, pins and needles, cramp, fatigue, poor memory…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68360" y="475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5000" spc="-1" strike="noStrike">
                <a:solidFill>
                  <a:srgbClr val="04617b"/>
                </a:solidFill>
                <a:latin typeface="Calibri"/>
              </a:rPr>
              <a:t>What can we do about it?</a:t>
            </a:r>
            <a:endParaRPr b="0" lang="en-US" sz="5000" spc="-1" strike="noStrike">
              <a:solidFill>
                <a:srgbClr val="04617b"/>
              </a:solidFill>
              <a:latin typeface="Calibri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Self observation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Place  one hand on your stomach and one on your chest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Drop shoulders, breath out and focus on movement of the lower hand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Practise in a comfortable position when you are relaxed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Try and breath in through your nose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68360" y="4042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5000" spc="-1" strike="noStrike">
                <a:solidFill>
                  <a:srgbClr val="0033cc"/>
                </a:solidFill>
                <a:latin typeface="Calibri"/>
              </a:rPr>
              <a:t>Breathing retraining</a:t>
            </a:r>
            <a:endParaRPr b="0" lang="en-US" sz="5000" spc="-1" strike="noStrike">
              <a:solidFill>
                <a:srgbClr val="04617b"/>
              </a:solidFill>
              <a:latin typeface="Calibri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177"/>
          </a:bodyPr>
          <a:p>
            <a:pPr marL="272880" indent="-272880">
              <a:lnSpc>
                <a:spcPct val="90000"/>
              </a:lnSpc>
              <a:spcBef>
                <a:spcPts val="70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800" spc="-1" strike="noStrike">
                <a:solidFill>
                  <a:srgbClr val="000000"/>
                </a:solidFill>
                <a:latin typeface="Constantia"/>
              </a:rPr>
              <a:t>Start lying on back</a:t>
            </a:r>
            <a:endParaRPr b="0" lang="en-US" sz="28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85000"/>
              <a:buFont typeface="Constanti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Bend knees or place hands above head to make easier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85000"/>
              <a:buFont typeface="Constanti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Can also lie on side or stomach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70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800" spc="-1" strike="noStrike">
                <a:solidFill>
                  <a:srgbClr val="000000"/>
                </a:solidFill>
                <a:latin typeface="Constantia"/>
              </a:rPr>
              <a:t>Think of posture changes</a:t>
            </a:r>
            <a:endParaRPr b="0" lang="en-US" sz="28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85000"/>
              <a:buFont typeface="Constanti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Relax shoulders, stomach, legs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70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800" spc="-1" strike="noStrike">
                <a:solidFill>
                  <a:srgbClr val="000000"/>
                </a:solidFill>
                <a:latin typeface="Constantia"/>
              </a:rPr>
              <a:t>Focus on diaphragm use</a:t>
            </a:r>
            <a:endParaRPr b="0" lang="en-US" sz="28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85000"/>
              <a:buFont typeface="Constanti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Feel stomach rise with breath in and fall with breath out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85000"/>
              <a:buFont typeface="Constanti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Try to slow down the breath out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85000"/>
              <a:buFont typeface="Constanti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Wheat bag on stomach for feedback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600" spc="-1" strike="noStrike">
                <a:solidFill>
                  <a:srgbClr val="0033cc"/>
                </a:solidFill>
                <a:latin typeface="Calibri"/>
              </a:rPr>
              <a:t>What to do when we are suddenly short of breath</a:t>
            </a:r>
            <a:endParaRPr b="0" lang="en-US" sz="3600" spc="-1" strike="noStrike">
              <a:solidFill>
                <a:srgbClr val="04617b"/>
              </a:solidFill>
              <a:latin typeface="Calibri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099" lnSpcReduction="10000"/>
          </a:bodyPr>
          <a:p>
            <a:pPr marL="272880" indent="-272880">
              <a:lnSpc>
                <a:spcPct val="90000"/>
              </a:lnSpc>
              <a:spcBef>
                <a:spcPts val="70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800" spc="-1" strike="noStrike">
                <a:solidFill>
                  <a:srgbClr val="000000"/>
                </a:solidFill>
                <a:latin typeface="Constantia"/>
              </a:rPr>
              <a:t>Stop, drop and flop</a:t>
            </a:r>
            <a:endParaRPr b="0" lang="en-US" sz="28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lnSpc>
                <a:spcPct val="90000"/>
              </a:lnSpc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Stop what you are doing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lnSpc>
                <a:spcPct val="90000"/>
              </a:lnSpc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Try to sit or lie down,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lnSpc>
                <a:spcPct val="90000"/>
              </a:lnSpc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Lean forward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lvl="1" marL="639720" indent="-245880">
              <a:lnSpc>
                <a:spcPct val="90000"/>
              </a:lnSpc>
              <a:spcBef>
                <a:spcPts val="601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00000"/>
                </a:solidFill>
                <a:latin typeface="Constantia"/>
              </a:rPr>
              <a:t>Relax muscles </a:t>
            </a:r>
            <a:endParaRPr b="0" lang="en-US" sz="24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70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800" spc="-1" strike="noStrike">
                <a:solidFill>
                  <a:srgbClr val="000000"/>
                </a:solidFill>
                <a:latin typeface="Constantia"/>
              </a:rPr>
              <a:t>Focus on breath out</a:t>
            </a:r>
            <a:endParaRPr b="0" lang="en-US" sz="28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70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800" spc="-1" strike="noStrike">
                <a:solidFill>
                  <a:srgbClr val="000000"/>
                </a:solidFill>
                <a:latin typeface="Constantia"/>
              </a:rPr>
              <a:t>Try to slow breathing rate with longer breathe out</a:t>
            </a:r>
            <a:endParaRPr b="0" lang="en-US" sz="28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70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800" spc="-1" strike="noStrike">
                <a:solidFill>
                  <a:srgbClr val="000000"/>
                </a:solidFill>
                <a:latin typeface="Constantia"/>
              </a:rPr>
              <a:t>Forward leaning</a:t>
            </a:r>
            <a:endParaRPr b="0" lang="en-US" sz="28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700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800" spc="-1" strike="noStrike">
                <a:solidFill>
                  <a:srgbClr val="000000"/>
                </a:solidFill>
                <a:latin typeface="Constantia"/>
              </a:rPr>
              <a:t>Try this prior to ventolin use if you find yourself reaching for  your ventolin often</a:t>
            </a:r>
            <a:endParaRPr b="0" lang="en-US" sz="2800" spc="-1" strike="noStrike">
              <a:solidFill>
                <a:srgbClr val="000000"/>
              </a:solidFill>
              <a:latin typeface="Constantia"/>
            </a:endParaRPr>
          </a:p>
        </p:txBody>
      </p:sp>
      <p:pic>
        <p:nvPicPr>
          <p:cNvPr id="91" name="Picture 4" descr="C:\Users\Skip\Downloads\h9991384_002.jpg"/>
          <p:cNvPicPr/>
          <p:nvPr/>
        </p:nvPicPr>
        <p:blipFill>
          <a:blip r:embed="rId1"/>
          <a:stretch/>
        </p:blipFill>
        <p:spPr>
          <a:xfrm>
            <a:off x="4998960" y="1628640"/>
            <a:ext cx="3719520" cy="2425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68360" y="33300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600" spc="-1" strike="noStrike">
                <a:solidFill>
                  <a:srgbClr val="04617b"/>
                </a:solidFill>
                <a:latin typeface="Calibri"/>
              </a:rPr>
              <a:t>How to breathe when we are exercising?</a:t>
            </a:r>
            <a:endParaRPr b="0" lang="en-US" sz="3600" spc="-1" strike="noStrike">
              <a:solidFill>
                <a:srgbClr val="04617b"/>
              </a:solidFill>
              <a:latin typeface="Calibri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Try and not hold your breath 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Breathe out on bending activities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Drop your shoulders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We can help in class, just ask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</p:txBody>
      </p:sp>
      <p:pic>
        <p:nvPicPr>
          <p:cNvPr id="94" name="Picture 4" descr="C:\Users\Skip\Downloads\image079.jpg"/>
          <p:cNvPicPr/>
          <p:nvPr/>
        </p:nvPicPr>
        <p:blipFill>
          <a:blip r:embed="rId1"/>
          <a:stretch/>
        </p:blipFill>
        <p:spPr>
          <a:xfrm>
            <a:off x="5508720" y="3141720"/>
            <a:ext cx="3308400" cy="338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5000" spc="-1" strike="noStrike">
                <a:solidFill>
                  <a:srgbClr val="04617b"/>
                </a:solidFill>
                <a:latin typeface="Calibri"/>
              </a:rPr>
              <a:t>Summary</a:t>
            </a:r>
            <a:endParaRPr b="0" lang="en-US" sz="5000" spc="-1" strike="noStrike">
              <a:solidFill>
                <a:srgbClr val="04617b"/>
              </a:solidFill>
              <a:latin typeface="Calibri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9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Practise good breathing when relaxed – aim for 2-3 times daily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3-4 breaths at a time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“</a:t>
            </a: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Check” your breathing through out the day – relax your shoulders, breath out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If suddenly short of breath – Stop, Drop, Flop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  <a:p>
            <a:pPr marL="272880" indent="-272880">
              <a:lnSpc>
                <a:spcPct val="90000"/>
              </a:lnSpc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600" spc="-1" strike="noStrike">
                <a:solidFill>
                  <a:srgbClr val="000000"/>
                </a:solidFill>
                <a:latin typeface="Constantia"/>
              </a:rPr>
              <a:t>Have a practise at home and talk to us about it in the next class.</a:t>
            </a:r>
            <a:endParaRPr b="0" lang="en-US" sz="2600" spc="-1" strike="noStrike">
              <a:solidFill>
                <a:srgbClr val="000000"/>
              </a:solidFill>
              <a:latin typeface="Constant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2012-09-28T16:06:20Z</dcterms:created>
  <dc:creator>eastwob</dc:creator>
  <dc:description/>
  <dc:language>en-US</dc:language>
  <cp:lastModifiedBy>Bonnie Chuang (CMDHB)</cp:lastModifiedBy>
  <dcterms:modified xsi:type="dcterms:W3CDTF">2021-10-19T11:44:05Z</dcterms:modified>
  <cp:revision>11</cp:revision>
  <dc:subject/>
  <dc:title>Breathing control talk</dc:title>
</cp:coreProperties>
</file>