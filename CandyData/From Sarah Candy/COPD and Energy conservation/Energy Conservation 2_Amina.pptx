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9144000" cy="6858000"/>
  <p:notesSz cx="6804025" cy="99393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6804000" cy="993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49480" cy="49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22"/>
          </p:nvPr>
        </p:nvSpPr>
        <p:spPr>
          <a:xfrm>
            <a:off x="3854160" y="0"/>
            <a:ext cx="2949480" cy="49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Img"/>
          </p:nvPr>
        </p:nvSpPr>
        <p:spPr>
          <a:xfrm>
            <a:off x="920520" y="745920"/>
            <a:ext cx="4965480" cy="37256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move the slide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3"/>
          </p:nvPr>
        </p:nvSpPr>
        <p:spPr>
          <a:xfrm>
            <a:off x="-36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24"/>
          </p:nvPr>
        </p:nvSpPr>
        <p:spPr>
          <a:xfrm>
            <a:off x="385416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N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04619C-DB52-49C1-9552-0316A1078E49}" type="slidenum">
              <a:rPr b="0" lang="en-NZ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Reduce unnecessary oxygen expenditure in the body. There are five major principles which can be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incorporated into daily activities. These principles are meant to be internalized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into daily habits.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A0064F-53FD-42D2-8FD6-45138BA7ED8D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CFF775-5894-41EB-8FDD-65FE70DF83AB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Morning or afternoon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338DB6-2632-429B-9846-1B10418E4929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445051-ADB1-4CC5-BF3A-60032D28F906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4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Posititoning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Give examples from home, set up kitchen (easy reach) etc.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760B61-8DB5-4A93-A139-155E4066C10B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303120" indent="0">
              <a:spcBef>
                <a:spcPts val="13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500" spc="-1" strike="noStrike">
                <a:solidFill>
                  <a:srgbClr val="000000"/>
                </a:solidFill>
                <a:latin typeface="Calibri"/>
              </a:rPr>
              <a:t>Personal cares-</a:t>
            </a:r>
            <a:endParaRPr b="0" lang="en-US" sz="3500" spc="-1" strike="noStrike">
              <a:solidFill>
                <a:srgbClr val="000000"/>
              </a:solidFill>
              <a:latin typeface="Calibri"/>
            </a:endParaRPr>
          </a:p>
          <a:p>
            <a:pPr lvl="1" marL="303120"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Sit to shower, dry and dress (where possible) – conserves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303120"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Use luke-warm water to reduce steam.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303120"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Make sure the bathroom is ventilated.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303120"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1200" spc="-1" strike="noStrike">
                <a:solidFill>
                  <a:srgbClr val="000000"/>
                </a:solidFill>
                <a:latin typeface="Calibri"/>
              </a:rPr>
              <a:t>Use a towelling robe to assist with drying.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757A20-8E7D-4FF1-A22A-B2B79D2C7BCC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E09CC9-08CC-45D1-A827-CA91193CC564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2384A0-13A3-4495-88FB-C0A42E00F7CE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920880" y="746280"/>
            <a:ext cx="4965480" cy="37256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0760" y="4721400"/>
            <a:ext cx="544356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NZ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Slide Number Placeholder 3"/>
          <p:cNvSpPr/>
          <p:nvPr/>
        </p:nvSpPr>
        <p:spPr>
          <a:xfrm>
            <a:off x="3854520" y="9441000"/>
            <a:ext cx="29494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4A4DCA-359D-4B70-926F-A28128A1E673}" type="slidenum">
              <a:rPr b="0" lang="en-NZ" sz="1200" spc="-1" strike="noStrike">
                <a:solidFill>
                  <a:srgbClr val="000000"/>
                </a:solidFill>
                <a:latin typeface="Tahom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BB8A9-46AC-4F16-905C-D0DA496C48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8BA1E4-2C1F-42F9-9D2E-2E4CF2FA09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ounded Rectangle 13"/>
          <p:cNvSpPr/>
          <p:nvPr/>
        </p:nvSpPr>
        <p:spPr>
          <a:xfrm>
            <a:off x="228600" y="228600"/>
            <a:ext cx="8696160" cy="2468520"/>
          </a:xfrm>
          <a:prstGeom prst="roundRect">
            <a:avLst>
              <a:gd name="adj" fmla="val 3361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1" name="Group 15"/>
          <p:cNvGrpSpPr/>
          <p:nvPr/>
        </p:nvGrpSpPr>
        <p:grpSpPr>
          <a:xfrm>
            <a:off x="210960" y="1679400"/>
            <a:ext cx="8723520" cy="1330560"/>
            <a:chOff x="210960" y="1679400"/>
            <a:chExt cx="8723520" cy="1330560"/>
          </a:xfrm>
        </p:grpSpPr>
        <p:sp>
          <p:nvSpPr>
            <p:cNvPr id="2" name="Freeform 14"/>
            <p:cNvSpPr/>
            <p:nvPr/>
          </p:nvSpPr>
          <p:spPr>
            <a:xfrm>
              <a:off x="6046920" y="1824480"/>
              <a:ext cx="2876400" cy="71424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3" name="Freeform 18"/>
            <p:cNvSpPr/>
            <p:nvPr/>
          </p:nvSpPr>
          <p:spPr>
            <a:xfrm>
              <a:off x="2618640" y="1695960"/>
              <a:ext cx="5544720" cy="85068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4" name="Freeform 22"/>
            <p:cNvSpPr/>
            <p:nvPr/>
          </p:nvSpPr>
          <p:spPr>
            <a:xfrm>
              <a:off x="2828160" y="1708200"/>
              <a:ext cx="5468040" cy="77472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5" name="Freeform 26"/>
            <p:cNvSpPr/>
            <p:nvPr/>
          </p:nvSpPr>
          <p:spPr>
            <a:xfrm>
              <a:off x="5608800" y="1694880"/>
              <a:ext cx="3308040" cy="65196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6" name="Freeform 10"/>
            <p:cNvSpPr/>
            <p:nvPr/>
          </p:nvSpPr>
          <p:spPr>
            <a:xfrm>
              <a:off x="210960" y="1679400"/>
              <a:ext cx="8723520" cy="133056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85B207-38F6-441E-BE36-3409840480F0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4"/>
          <p:cNvSpPr/>
          <p:nvPr/>
        </p:nvSpPr>
        <p:spPr>
          <a:xfrm>
            <a:off x="228600" y="228600"/>
            <a:ext cx="8696160" cy="6035760"/>
          </a:xfrm>
          <a:prstGeom prst="roundRect">
            <a:avLst>
              <a:gd name="adj" fmla="val 1273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13" name="Group 9"/>
          <p:cNvGrpSpPr/>
          <p:nvPr/>
        </p:nvGrpSpPr>
        <p:grpSpPr>
          <a:xfrm>
            <a:off x="210960" y="5354640"/>
            <a:ext cx="8723520" cy="1330200"/>
            <a:chOff x="210960" y="5354640"/>
            <a:chExt cx="8723520" cy="1330200"/>
          </a:xfrm>
        </p:grpSpPr>
        <p:sp>
          <p:nvSpPr>
            <p:cNvPr id="14" name="Freeform 14"/>
            <p:cNvSpPr/>
            <p:nvPr/>
          </p:nvSpPr>
          <p:spPr>
            <a:xfrm>
              <a:off x="6054480" y="5499720"/>
              <a:ext cx="2880000" cy="71424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5" name="Freeform 18"/>
            <p:cNvSpPr/>
            <p:nvPr/>
          </p:nvSpPr>
          <p:spPr>
            <a:xfrm>
              <a:off x="2621520" y="5371200"/>
              <a:ext cx="5551920" cy="85032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6" name="Freeform 22"/>
            <p:cNvSpPr/>
            <p:nvPr/>
          </p:nvSpPr>
          <p:spPr>
            <a:xfrm>
              <a:off x="2831400" y="5383440"/>
              <a:ext cx="5475240" cy="77436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7" name="Freeform 26"/>
            <p:cNvSpPr/>
            <p:nvPr/>
          </p:nvSpPr>
          <p:spPr>
            <a:xfrm>
              <a:off x="5616000" y="5370120"/>
              <a:ext cx="3312360" cy="65160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18" name="Freeform 10"/>
            <p:cNvSpPr/>
            <p:nvPr/>
          </p:nvSpPr>
          <p:spPr>
            <a:xfrm>
              <a:off x="210960" y="5354640"/>
              <a:ext cx="8723520" cy="133020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877FB8-2091-40B1-976E-49D80E1F55C7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14"/>
          <p:cNvSpPr/>
          <p:nvPr/>
        </p:nvSpPr>
        <p:spPr>
          <a:xfrm>
            <a:off x="228600" y="228600"/>
            <a:ext cx="8696160" cy="4737240"/>
          </a:xfrm>
          <a:prstGeom prst="roundRect">
            <a:avLst>
              <a:gd name="adj" fmla="val 1273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5" name="Freeform 14"/>
          <p:cNvSpPr/>
          <p:nvPr/>
        </p:nvSpPr>
        <p:spPr>
          <a:xfrm>
            <a:off x="6046920" y="4203720"/>
            <a:ext cx="2876400" cy="714240"/>
          </a:xfrm>
          <a:custGeom>
            <a:avLst/>
            <a:gdLst/>
            <a:ahLst/>
            <a:rect l="l" t="t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6" y="388"/>
                </a:lnTo>
                <a:lnTo>
                  <a:pt x="2706" y="0"/>
                </a:lnTo>
                <a:lnTo>
                  <a:pt x="2700" y="0"/>
                </a:lnTo>
                <a:close/>
              </a:path>
            </a:pathLst>
          </a:custGeom>
          <a:solidFill>
            <a:srgbClr val="c6e7fc">
              <a:alpha val="2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6" name="Freeform 18"/>
          <p:cNvSpPr/>
          <p:nvPr/>
        </p:nvSpPr>
        <p:spPr>
          <a:xfrm>
            <a:off x="2619360" y="4075200"/>
            <a:ext cx="5545080" cy="850680"/>
          </a:xfrm>
          <a:custGeom>
            <a:avLst/>
            <a:gdLst/>
            <a:ahLst/>
            <a:rect l="l" t="t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close/>
              </a:path>
            </a:pathLst>
          </a:custGeom>
          <a:solidFill>
            <a:srgbClr val="c6e7f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7" name="Freeform 22"/>
          <p:cNvSpPr/>
          <p:nvPr/>
        </p:nvSpPr>
        <p:spPr>
          <a:xfrm>
            <a:off x="2828880" y="4087800"/>
            <a:ext cx="5467320" cy="774720"/>
          </a:xfrm>
          <a:custGeom>
            <a:avLst/>
            <a:gdLst/>
            <a:ahLst/>
            <a:rect l="l" t="t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8" name="Freeform 26"/>
          <p:cNvSpPr/>
          <p:nvPr/>
        </p:nvSpPr>
        <p:spPr>
          <a:xfrm>
            <a:off x="5610240" y="4073400"/>
            <a:ext cx="3306600" cy="652680"/>
          </a:xfrm>
          <a:custGeom>
            <a:avLst/>
            <a:gdLst/>
            <a:ahLst/>
            <a:rect l="l" t="t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 useBgFill="1">
        <p:nvSpPr>
          <p:cNvPr id="29" name="Freeform 10"/>
          <p:cNvSpPr/>
          <p:nvPr/>
        </p:nvSpPr>
        <p:spPr>
          <a:xfrm>
            <a:off x="210960" y="4059360"/>
            <a:ext cx="8723520" cy="1328760"/>
          </a:xfrm>
          <a:custGeom>
            <a:avLst/>
            <a:gdLst/>
            <a:ahLst/>
            <a:rect l="l" t="t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510"/>
                </a:lnTo>
                <a:lnTo>
                  <a:pt x="8192" y="512"/>
                </a:lnTo>
                <a:close/>
              </a:path>
            </a:pathLst>
          </a:cu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C2A477-97DB-4616-AAD5-853CFBB1208C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14"/>
          <p:cNvSpPr/>
          <p:nvPr/>
        </p:nvSpPr>
        <p:spPr>
          <a:xfrm>
            <a:off x="228600" y="228600"/>
            <a:ext cx="8696160" cy="1427040"/>
          </a:xfrm>
          <a:prstGeom prst="roundRect">
            <a:avLst>
              <a:gd name="adj" fmla="val 7134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36" name="Group 15"/>
          <p:cNvGrpSpPr/>
          <p:nvPr/>
        </p:nvGrpSpPr>
        <p:grpSpPr>
          <a:xfrm>
            <a:off x="210960" y="714240"/>
            <a:ext cx="8723520" cy="1330560"/>
            <a:chOff x="210960" y="714240"/>
            <a:chExt cx="8723520" cy="1330560"/>
          </a:xfrm>
        </p:grpSpPr>
        <p:sp>
          <p:nvSpPr>
            <p:cNvPr id="37" name="Freeform 14"/>
            <p:cNvSpPr/>
            <p:nvPr/>
          </p:nvSpPr>
          <p:spPr>
            <a:xfrm>
              <a:off x="6046920" y="859320"/>
              <a:ext cx="2876400" cy="71424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38" name="Freeform 18"/>
            <p:cNvSpPr/>
            <p:nvPr/>
          </p:nvSpPr>
          <p:spPr>
            <a:xfrm>
              <a:off x="2618640" y="730800"/>
              <a:ext cx="5544720" cy="85068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39" name="Freeform 22"/>
            <p:cNvSpPr/>
            <p:nvPr/>
          </p:nvSpPr>
          <p:spPr>
            <a:xfrm>
              <a:off x="2828160" y="743040"/>
              <a:ext cx="5468040" cy="77472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40" name="Freeform 26"/>
            <p:cNvSpPr/>
            <p:nvPr/>
          </p:nvSpPr>
          <p:spPr>
            <a:xfrm>
              <a:off x="5608800" y="729720"/>
              <a:ext cx="3308040" cy="65196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41" name="Freeform 25"/>
            <p:cNvSpPr/>
            <p:nvPr/>
          </p:nvSpPr>
          <p:spPr>
            <a:xfrm>
              <a:off x="210960" y="714240"/>
              <a:ext cx="8723520" cy="133056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0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1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2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1ADBC9-2E7F-47FC-82D3-50E952314BBA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4"/>
          <p:cNvSpPr/>
          <p:nvPr/>
        </p:nvSpPr>
        <p:spPr>
          <a:xfrm>
            <a:off x="228600" y="228600"/>
            <a:ext cx="8696160" cy="1427040"/>
          </a:xfrm>
          <a:prstGeom prst="roundRect">
            <a:avLst>
              <a:gd name="adj" fmla="val 7134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48" name="Group 23"/>
          <p:cNvGrpSpPr/>
          <p:nvPr/>
        </p:nvGrpSpPr>
        <p:grpSpPr>
          <a:xfrm>
            <a:off x="210960" y="714240"/>
            <a:ext cx="8723520" cy="1332000"/>
            <a:chOff x="210960" y="714240"/>
            <a:chExt cx="8723520" cy="1332000"/>
          </a:xfrm>
        </p:grpSpPr>
        <p:sp>
          <p:nvSpPr>
            <p:cNvPr id="49" name="Freeform 14"/>
            <p:cNvSpPr/>
            <p:nvPr/>
          </p:nvSpPr>
          <p:spPr>
            <a:xfrm>
              <a:off x="6054480" y="859320"/>
              <a:ext cx="2880000" cy="71532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50" name="Freeform 18"/>
            <p:cNvSpPr/>
            <p:nvPr/>
          </p:nvSpPr>
          <p:spPr>
            <a:xfrm>
              <a:off x="2621520" y="730800"/>
              <a:ext cx="5551920" cy="85140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51" name="Freeform 22"/>
            <p:cNvSpPr/>
            <p:nvPr/>
          </p:nvSpPr>
          <p:spPr>
            <a:xfrm>
              <a:off x="2831400" y="743040"/>
              <a:ext cx="5475240" cy="77544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52" name="Freeform 26"/>
            <p:cNvSpPr/>
            <p:nvPr/>
          </p:nvSpPr>
          <p:spPr>
            <a:xfrm>
              <a:off x="5616000" y="729720"/>
              <a:ext cx="3312360" cy="65268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53" name="Freeform 25"/>
            <p:cNvSpPr/>
            <p:nvPr/>
          </p:nvSpPr>
          <p:spPr>
            <a:xfrm>
              <a:off x="210960" y="714240"/>
              <a:ext cx="8723520" cy="133200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3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4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15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2086D9-FE3D-4A32-8DA3-62887BB252E1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14"/>
          <p:cNvSpPr/>
          <p:nvPr/>
        </p:nvSpPr>
        <p:spPr>
          <a:xfrm>
            <a:off x="228600" y="228600"/>
            <a:ext cx="8696160" cy="6035760"/>
          </a:xfrm>
          <a:prstGeom prst="roundRect">
            <a:avLst>
              <a:gd name="adj" fmla="val 1273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60" name="Group 15"/>
          <p:cNvGrpSpPr/>
          <p:nvPr/>
        </p:nvGrpSpPr>
        <p:grpSpPr>
          <a:xfrm>
            <a:off x="210960" y="5354640"/>
            <a:ext cx="8723520" cy="1330200"/>
            <a:chOff x="210960" y="5354640"/>
            <a:chExt cx="8723520" cy="1330200"/>
          </a:xfrm>
        </p:grpSpPr>
        <p:sp>
          <p:nvSpPr>
            <p:cNvPr id="61" name="Freeform 14"/>
            <p:cNvSpPr/>
            <p:nvPr/>
          </p:nvSpPr>
          <p:spPr>
            <a:xfrm>
              <a:off x="6054480" y="5499720"/>
              <a:ext cx="2880000" cy="71424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62" name="Freeform 18"/>
            <p:cNvSpPr/>
            <p:nvPr/>
          </p:nvSpPr>
          <p:spPr>
            <a:xfrm>
              <a:off x="2621520" y="5371200"/>
              <a:ext cx="5551920" cy="85032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63" name="Freeform 22"/>
            <p:cNvSpPr/>
            <p:nvPr/>
          </p:nvSpPr>
          <p:spPr>
            <a:xfrm>
              <a:off x="2831400" y="5383440"/>
              <a:ext cx="5475240" cy="77436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5616000" y="5370120"/>
              <a:ext cx="3312360" cy="65160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65" name="Freeform 20"/>
            <p:cNvSpPr/>
            <p:nvPr/>
          </p:nvSpPr>
          <p:spPr>
            <a:xfrm>
              <a:off x="210960" y="5354640"/>
              <a:ext cx="8723520" cy="133020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16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17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18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1FBE5C-DB75-43A7-90FB-67984FEBFA3D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4"/>
          <p:cNvSpPr/>
          <p:nvPr/>
        </p:nvSpPr>
        <p:spPr>
          <a:xfrm>
            <a:off x="228600" y="228600"/>
            <a:ext cx="8696160" cy="1427040"/>
          </a:xfrm>
          <a:prstGeom prst="roundRect">
            <a:avLst>
              <a:gd name="adj" fmla="val 7134"/>
            </a:avLst>
          </a:prstGeom>
          <a:gradFill rotWithShape="0">
            <a:gsLst>
              <a:gs pos="0">
                <a:srgbClr val="0293e0"/>
              </a:gs>
              <a:gs pos="100000">
                <a:srgbClr val="83d3f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72" name="Group 15"/>
          <p:cNvGrpSpPr/>
          <p:nvPr/>
        </p:nvGrpSpPr>
        <p:grpSpPr>
          <a:xfrm>
            <a:off x="210960" y="714240"/>
            <a:ext cx="8723520" cy="1332000"/>
            <a:chOff x="210960" y="714240"/>
            <a:chExt cx="8723520" cy="1332000"/>
          </a:xfrm>
        </p:grpSpPr>
        <p:sp>
          <p:nvSpPr>
            <p:cNvPr id="73" name="Freeform 14"/>
            <p:cNvSpPr/>
            <p:nvPr/>
          </p:nvSpPr>
          <p:spPr>
            <a:xfrm>
              <a:off x="6054480" y="859320"/>
              <a:ext cx="2880000" cy="715320"/>
            </a:xfrm>
            <a:custGeom>
              <a:avLst/>
              <a:gdLst/>
              <a:ahLst/>
              <a:rect l="l" t="t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c6e7fc">
                <a:alpha val="2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4" name="Freeform 18"/>
            <p:cNvSpPr/>
            <p:nvPr/>
          </p:nvSpPr>
          <p:spPr>
            <a:xfrm>
              <a:off x="2621520" y="730800"/>
              <a:ext cx="5551920" cy="851400"/>
            </a:xfrm>
            <a:custGeom>
              <a:avLst/>
              <a:gdLst/>
              <a:ahLst/>
              <a:rect l="l" t="t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rgbClr val="c6e7f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5" name="Freeform 22"/>
            <p:cNvSpPr/>
            <p:nvPr/>
          </p:nvSpPr>
          <p:spPr>
            <a:xfrm>
              <a:off x="2831400" y="743040"/>
              <a:ext cx="5475240" cy="775440"/>
            </a:xfrm>
            <a:custGeom>
              <a:avLst/>
              <a:gdLst/>
              <a:ahLst/>
              <a:rect l="l" t="t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76" name="Freeform 26"/>
            <p:cNvSpPr/>
            <p:nvPr/>
          </p:nvSpPr>
          <p:spPr>
            <a:xfrm>
              <a:off x="5616000" y="729720"/>
              <a:ext cx="3312360" cy="652680"/>
            </a:xfrm>
            <a:custGeom>
              <a:avLst/>
              <a:gdLst/>
              <a:ahLst/>
              <a:rect l="l" t="t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 useBgFill="1">
          <p:nvSpPr>
            <p:cNvPr id="77" name="Freeform 25"/>
            <p:cNvSpPr/>
            <p:nvPr/>
          </p:nvSpPr>
          <p:spPr>
            <a:xfrm>
              <a:off x="210960" y="714240"/>
              <a:ext cx="8723520" cy="1332000"/>
            </a:xfrm>
            <a:custGeom>
              <a:avLst/>
              <a:gdLst/>
              <a:ahLst/>
              <a:rect l="l" t="t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ndara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Click to edit the outline text format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Second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2" marL="85572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Third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3" marL="114300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Fourth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4" marL="1461960" indent="-22860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Fifth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5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Sixth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6" marL="1461960" indent="-228600">
              <a:spcBef>
                <a:spcPts val="601"/>
              </a:spcBef>
              <a:buClr>
                <a:srgbClr val="000000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73e87"/>
                </a:solidFill>
                <a:latin typeface="Candara"/>
              </a:rPr>
              <a:t>Seventh Outline Level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9"/>
          </p:nvPr>
        </p:nvSpPr>
        <p:spPr>
          <a:xfrm>
            <a:off x="516384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20"/>
          </p:nvPr>
        </p:nvSpPr>
        <p:spPr>
          <a:xfrm>
            <a:off x="193320" y="6249960"/>
            <a:ext cx="37861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21"/>
          </p:nvPr>
        </p:nvSpPr>
        <p:spPr>
          <a:xfrm>
            <a:off x="3990960" y="6249960"/>
            <a:ext cx="1162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000" spc="-1" strike="noStrike">
                <a:solidFill>
                  <a:srgbClr val="073e87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E0EF72-F4C0-45BB-BBD4-042DF0DC4039}" type="slidenum">
              <a:rPr b="0" lang="en-GB" sz="1000" spc="-1" strike="noStrike">
                <a:solidFill>
                  <a:srgbClr val="073e87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68360" y="1988640"/>
            <a:ext cx="8136000" cy="11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6000" spc="-1" strike="noStrike">
                <a:solidFill>
                  <a:srgbClr val="ffffff"/>
                </a:solidFill>
                <a:latin typeface="Candara"/>
              </a:rPr>
              <a:t>Energy Conservation</a:t>
            </a:r>
            <a:endParaRPr b="0" lang="en-US" sz="60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684360" y="2276280"/>
            <a:ext cx="7408800" cy="402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 u="sng">
                <a:solidFill>
                  <a:srgbClr val="073e87"/>
                </a:solidFill>
                <a:uFillTx/>
                <a:latin typeface="Candara"/>
              </a:rPr>
              <a:t>Prioritise</a:t>
            </a:r>
            <a:endParaRPr b="0" lang="en-US" sz="4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lnSpc>
                <a:spcPct val="150000"/>
              </a:lnSpc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Complete most important tasks first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lnSpc>
                <a:spcPct val="150000"/>
              </a:lnSpc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Delegate tasks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lnSpc>
                <a:spcPct val="150000"/>
              </a:lnSpc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Eliminate unnecessary tasks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Principles of Energy conservation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539640" y="2276640"/>
            <a:ext cx="7408800" cy="388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 u="sng">
                <a:solidFill>
                  <a:srgbClr val="073e87"/>
                </a:solidFill>
                <a:uFillTx/>
                <a:latin typeface="Candara"/>
              </a:rPr>
              <a:t>Plan ahead</a:t>
            </a:r>
            <a:endParaRPr b="0" lang="en-US" sz="4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When do I have most energy?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Distribute jobs over the whole week.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Alternate heavy and light tasks.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Complete heavier tasks when feeling more energetic.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Principles cont.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 txBox="1"/>
          <p:nvPr/>
        </p:nvSpPr>
        <p:spPr>
          <a:xfrm>
            <a:off x="684360" y="2276280"/>
            <a:ext cx="7408800" cy="4105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 lnSpcReduction="10000"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 u="sng">
                <a:solidFill>
                  <a:srgbClr val="073e87"/>
                </a:solidFill>
                <a:uFillTx/>
                <a:latin typeface="Candara"/>
              </a:rPr>
              <a:t>Pace/Rest</a:t>
            </a:r>
            <a:endParaRPr b="0" lang="en-US" sz="4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Regular rest breaks should be planned.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Pace yourself – 30-40 minute tasks then rest.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Avoid rushing.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Listen to your body messages before you are exhausted.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84000" y="475920"/>
            <a:ext cx="7786440" cy="12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Principles cont.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 txBox="1"/>
          <p:nvPr/>
        </p:nvSpPr>
        <p:spPr>
          <a:xfrm>
            <a:off x="871560" y="267444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000" spc="-1" strike="noStrike" u="sng">
                <a:solidFill>
                  <a:srgbClr val="073e87"/>
                </a:solidFill>
                <a:uFillTx/>
                <a:latin typeface="Candara"/>
              </a:rPr>
              <a:t>Exercise: </a:t>
            </a:r>
            <a:endParaRPr b="0" lang="en-US" sz="4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Identify a common task you struggle with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3000" spc="-1" strike="noStrike">
                <a:solidFill>
                  <a:srgbClr val="073e87"/>
                </a:solidFill>
                <a:latin typeface="Candara"/>
              </a:rPr>
              <a:t>Discuss with your neighbour a way to complete the task with the energy conservation principles in mind. </a:t>
            </a: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  <a:p>
            <a:pPr>
              <a:spcBef>
                <a:spcPts val="75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Work simplification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"/>
          <p:cNvGraphicFramePr/>
          <p:nvPr/>
        </p:nvGraphicFramePr>
        <p:xfrm>
          <a:off x="684360" y="2924280"/>
          <a:ext cx="7408800" cy="2560680"/>
        </p:xfrm>
        <a:graphic>
          <a:graphicData uri="http://schemas.openxmlformats.org/drawingml/2006/table">
            <a:tbl>
              <a:tblPr/>
              <a:tblGrid>
                <a:gridCol w="2087280"/>
                <a:gridCol w="5321520"/>
              </a:tblGrid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Bathing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Complete when you have most energy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Sit if able on chair or bath board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Grooming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Sit at hand basin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Use electrical toothbrush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Dressing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Avoid tight clothing and shoes with laces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Use a sock aid or an easy reacher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Toileting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Ensure there is proper ventilation. Consider a raised toilet seat or rails on the wall.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</a:tr>
            </a:tbl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Tips: Personal cares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95280" y="549000"/>
            <a:ext cx="8229600" cy="12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Tips: Preparing meals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graphicFrame>
        <p:nvGraphicFramePr>
          <p:cNvPr id="102" name=""/>
          <p:cNvGraphicFramePr/>
          <p:nvPr/>
        </p:nvGraphicFramePr>
        <p:xfrm>
          <a:off x="684360" y="2924280"/>
          <a:ext cx="7408800" cy="1828800"/>
        </p:xfrm>
        <a:graphic>
          <a:graphicData uri="http://schemas.openxmlformats.org/drawingml/2006/table">
            <a:tbl>
              <a:tblPr/>
              <a:tblGrid>
                <a:gridCol w="2087280"/>
                <a:gridCol w="5321520"/>
              </a:tblGrid>
              <a:tr h="6426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Grocery shopping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Write  a list prior to going. Order groceries online. Use wheeled trolley.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</a:tr>
              <a:tr h="1191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Meal preparation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Prepare meals in advance and consider freezing them. Cut food at a table rather than standing. Transport items with a kitchen trolley. Have items within easy reach.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Tips: Household tasks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684360" y="2781360"/>
          <a:ext cx="7408800" cy="1725480"/>
        </p:xfrm>
        <a:graphic>
          <a:graphicData uri="http://schemas.openxmlformats.org/drawingml/2006/table">
            <a:tbl>
              <a:tblPr/>
              <a:tblGrid>
                <a:gridCol w="2087280"/>
                <a:gridCol w="5321520"/>
              </a:tblGrid>
              <a:tr h="7185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Laundry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lvl="1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Sit to sort, fold and iron laundry.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Use a clothes rack rather than washing line.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</a:tr>
              <a:tr h="6411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Cleaning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Seek assistance. Stagger cleaning tasks throughout the week.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cde5fe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Gardening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NZ" sz="1800" spc="-1" strike="noStrike">
                          <a:solidFill>
                            <a:srgbClr val="000000"/>
                          </a:solidFill>
                          <a:latin typeface="Candara"/>
                        </a:rPr>
                        <a:t>Attempt to sit if able.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anchor="t" marL="90000" marR="90000">
                    <a:lnL w="5760">
                      <a:solidFill>
                        <a:srgbClr val="31b6fd"/>
                      </a:solidFill>
                      <a:prstDash val="solid"/>
                    </a:lnL>
                    <a:lnR w="5760">
                      <a:solidFill>
                        <a:srgbClr val="31b6fd"/>
                      </a:solidFill>
                      <a:prstDash val="solid"/>
                    </a:lnR>
                    <a:lnT w="5760">
                      <a:solidFill>
                        <a:srgbClr val="31b6fd"/>
                      </a:solidFill>
                      <a:prstDash val="solid"/>
                    </a:lnT>
                    <a:lnB w="5760">
                      <a:solidFill>
                        <a:srgbClr val="31b6fd"/>
                      </a:solidFill>
                      <a:prstDash val="solid"/>
                    </a:lnB>
                    <a:solidFill>
                      <a:srgbClr val="e8f3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684360" y="2491920"/>
            <a:ext cx="7408800" cy="34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400" spc="-1" strike="noStrike">
                <a:solidFill>
                  <a:srgbClr val="073e87"/>
                </a:solidFill>
                <a:latin typeface="Candara"/>
              </a:rPr>
              <a:t>General</a:t>
            </a:r>
            <a:endParaRPr b="0" lang="en-US" sz="24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550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73e87"/>
                </a:solidFill>
                <a:latin typeface="Candara"/>
              </a:rPr>
              <a:t>Access a Mobility card via the GP to access disability carparks.</a:t>
            </a:r>
            <a:endParaRPr b="0" lang="en-US" sz="22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550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73e87"/>
                </a:solidFill>
                <a:latin typeface="Candara"/>
              </a:rPr>
              <a:t>Arrange everyday objects within easy reach.</a:t>
            </a:r>
            <a:endParaRPr b="0" lang="en-US" sz="22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550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2200" spc="-1" strike="noStrike">
                <a:solidFill>
                  <a:srgbClr val="073e87"/>
                </a:solidFill>
                <a:latin typeface="Candara"/>
              </a:rPr>
              <a:t>An OT referral can be accessed via your GP or other Health professional for a home based assessment.</a:t>
            </a:r>
            <a:endParaRPr b="0" lang="en-US" sz="2200" spc="-1" strike="noStrike">
              <a:solidFill>
                <a:srgbClr val="073e87"/>
              </a:solidFill>
              <a:latin typeface="Candara"/>
            </a:endParaRPr>
          </a:p>
          <a:p>
            <a:pPr lvl="1" marL="576360" indent="-273240">
              <a:spcBef>
                <a:spcPts val="550"/>
              </a:spcBef>
              <a:buClr>
                <a:srgbClr val="31b6fd"/>
              </a:buClr>
              <a:buFont typeface="Symbol" charset="2"/>
              <a:buChar char="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73e87"/>
              </a:solidFill>
              <a:latin typeface="Candara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338040"/>
            <a:ext cx="8229600" cy="125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NZ" sz="4400" spc="-1" strike="noStrike">
                <a:solidFill>
                  <a:srgbClr val="ffffff"/>
                </a:solidFill>
                <a:latin typeface="Candara"/>
              </a:rPr>
              <a:t>Tips cont.</a:t>
            </a:r>
            <a:endParaRPr b="0" lang="en-US" sz="4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6CB4F580-B42F-4248-8EE9-101DBABF4C0A" descr="image1.jpeg"/>
          <p:cNvPicPr/>
          <p:nvPr/>
        </p:nvPicPr>
        <p:blipFill>
          <a:blip r:embed="rId1"/>
          <a:stretch/>
        </p:blipFill>
        <p:spPr>
          <a:xfrm>
            <a:off x="0" y="130320"/>
            <a:ext cx="2589120" cy="2900160"/>
          </a:xfrm>
          <a:prstGeom prst="rect">
            <a:avLst/>
          </a:prstGeom>
          <a:ln w="0">
            <a:noFill/>
          </a:ln>
        </p:spPr>
      </p:pic>
      <p:pic>
        <p:nvPicPr>
          <p:cNvPr id="108" name="77C46018-9C09-4EED-8070-7A29BBEF82BE" descr="image5.jpeg"/>
          <p:cNvPicPr/>
          <p:nvPr/>
        </p:nvPicPr>
        <p:blipFill>
          <a:blip r:embed="rId2"/>
          <a:stretch/>
        </p:blipFill>
        <p:spPr>
          <a:xfrm>
            <a:off x="108000" y="3213000"/>
            <a:ext cx="2695680" cy="3348000"/>
          </a:xfrm>
          <a:prstGeom prst="rect">
            <a:avLst/>
          </a:prstGeom>
          <a:ln w="0">
            <a:noFill/>
          </a:ln>
        </p:spPr>
      </p:pic>
      <p:pic>
        <p:nvPicPr>
          <p:cNvPr id="109" name="61A6583D-2C21-4E79-A9AE-B77BB19179F2" descr="image4.jpeg"/>
          <p:cNvPicPr/>
          <p:nvPr/>
        </p:nvPicPr>
        <p:blipFill>
          <a:blip r:embed="rId3"/>
          <a:stretch/>
        </p:blipFill>
        <p:spPr>
          <a:xfrm>
            <a:off x="2987640" y="3178080"/>
            <a:ext cx="3208320" cy="3194280"/>
          </a:xfrm>
          <a:prstGeom prst="rect">
            <a:avLst/>
          </a:prstGeom>
          <a:ln w="0">
            <a:noFill/>
          </a:ln>
        </p:spPr>
      </p:pic>
      <p:pic>
        <p:nvPicPr>
          <p:cNvPr id="110" name="D44E6AF2-9520-49D0-9A81-9FC95AD34C9C" descr="image3.jpeg"/>
          <p:cNvPicPr/>
          <p:nvPr/>
        </p:nvPicPr>
        <p:blipFill>
          <a:blip r:embed="rId4"/>
          <a:stretch/>
        </p:blipFill>
        <p:spPr>
          <a:xfrm>
            <a:off x="6372360" y="3338640"/>
            <a:ext cx="2435040" cy="2778120"/>
          </a:xfrm>
          <a:prstGeom prst="rect">
            <a:avLst/>
          </a:prstGeom>
          <a:ln w="0">
            <a:noFill/>
          </a:ln>
        </p:spPr>
      </p:pic>
      <p:pic>
        <p:nvPicPr>
          <p:cNvPr id="111" name="CB84120C-3E96-443E-9A15-C1431C4FBFF6" descr="image2.jpeg"/>
          <p:cNvPicPr/>
          <p:nvPr/>
        </p:nvPicPr>
        <p:blipFill>
          <a:blip r:embed="rId5"/>
          <a:stretch/>
        </p:blipFill>
        <p:spPr>
          <a:xfrm>
            <a:off x="5891040" y="217440"/>
            <a:ext cx="3140280" cy="2813040"/>
          </a:xfrm>
          <a:prstGeom prst="rect">
            <a:avLst/>
          </a:prstGeom>
          <a:ln w="0">
            <a:noFill/>
          </a:ln>
        </p:spPr>
      </p:pic>
      <p:sp>
        <p:nvSpPr>
          <p:cNvPr id="112" name="TextBox 3"/>
          <p:cNvSpPr/>
          <p:nvPr/>
        </p:nvSpPr>
        <p:spPr>
          <a:xfrm>
            <a:off x="2608200" y="811080"/>
            <a:ext cx="310212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NZ" sz="2200" spc="-1" strike="noStrike">
                <a:solidFill>
                  <a:srgbClr val="000000"/>
                </a:solidFill>
                <a:latin typeface="Tahoma"/>
              </a:rPr>
              <a:t>Assistive Equipment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2012-08-21T13:16:09Z</dcterms:created>
  <dc:creator>Bronwyn Corbould</dc:creator>
  <dc:description/>
  <dc:language>en-US</dc:language>
  <cp:lastModifiedBy>Bonnie Chuang (CMDHB)</cp:lastModifiedBy>
  <cp:lastPrinted>2018-04-04T15:42:54Z</cp:lastPrinted>
  <dcterms:modified xsi:type="dcterms:W3CDTF">2021-04-23T09:11:45Z</dcterms:modified>
  <cp:revision>18</cp:revision>
  <dc:subject/>
  <dc:title>Energy Conservation</dc:title>
</cp:coreProperties>
</file>