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gif" ContentType="image/gif"/>
  <Override PartName="/ppt/media/image7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9.png" ContentType="image/png"/>
  <Override PartName="/ppt/media/image8.jpeg" ContentType="image/jpe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A1DE1E-AD37-4E94-832C-51639D1BDDA2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D34907-2761-4127-9DA2-B8011E923714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731D88-6380-4EFA-B6DA-FBBA10D4FE67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504CEA-A941-466A-98BD-B96131ECF338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E4C751-6AF1-4D9F-87C5-92AA4B43FB42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36D89C-3EFE-47BD-9B3B-CADCF7B123A9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6DBEC5-7034-40A8-BCDE-30C1C0B0FA6E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9461EA-C9C6-460D-9009-34663EC9513F}" type="slidenum">
              <a:rPr b="0" lang="en-NZ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ABA493-C8C2-4DA8-B7DB-A884D38B09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077665-085F-4E8E-B5DF-120CFD4E311E}" type="slidenum">
              <a:rPr b="0" lang="en-GB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image" Target="../media/image3.gi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11280" y="0"/>
            <a:ext cx="7850160" cy="18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6600" spc="-1" strike="noStrike">
                <a:solidFill>
                  <a:srgbClr val="000000"/>
                </a:solidFill>
                <a:latin typeface="Calibri"/>
              </a:rPr>
              <a:t>Sputum Clearance</a:t>
            </a:r>
            <a:endParaRPr b="0" lang="en-US" sz="6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755280" y="4581000"/>
            <a:ext cx="7854840" cy="175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3600" spc="-1" strike="noStrike">
                <a:solidFill>
                  <a:srgbClr val="898989"/>
                </a:solidFill>
                <a:latin typeface="Calibri"/>
              </a:rPr>
              <a:t>Better Breathing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indent="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3600" spc="-1" strike="noStrike">
                <a:solidFill>
                  <a:srgbClr val="898989"/>
                </a:solidFill>
                <a:latin typeface="Calibri"/>
              </a:rPr>
              <a:t> </a:t>
            </a:r>
            <a:r>
              <a:rPr b="1" lang="en-NZ" sz="3600" spc="-1" strike="noStrike">
                <a:solidFill>
                  <a:srgbClr val="898989"/>
                </a:solidFill>
                <a:latin typeface="Calibri"/>
              </a:rPr>
              <a:t>Physiotherapist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" name="Picture 1" descr=""/>
          <p:cNvPicPr/>
          <p:nvPr/>
        </p:nvPicPr>
        <p:blipFill>
          <a:blip r:embed="rId1"/>
          <a:stretch/>
        </p:blipFill>
        <p:spPr>
          <a:xfrm>
            <a:off x="2124000" y="1341360"/>
            <a:ext cx="4969080" cy="3168720"/>
          </a:xfrm>
          <a:prstGeom prst="rect">
            <a:avLst/>
          </a:prstGeom>
          <a:ln w="0">
            <a:noFill/>
          </a:ln>
          <a:effectLst>
            <a:outerShdw dist="139498" dir="2700000" blurRad="0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5400" spc="-1" strike="noStrike">
                <a:solidFill>
                  <a:srgbClr val="000000"/>
                </a:solidFill>
                <a:latin typeface="Calibri"/>
              </a:rPr>
              <a:t>Outline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24000" y="1916280"/>
            <a:ext cx="8229600" cy="438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200" spc="-1" strike="noStrike">
                <a:solidFill>
                  <a:srgbClr val="000000"/>
                </a:solidFill>
                <a:latin typeface="Calibri"/>
              </a:rPr>
              <a:t>Function of secretions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200" spc="-1" strike="noStrike">
                <a:solidFill>
                  <a:srgbClr val="000000"/>
                </a:solidFill>
                <a:latin typeface="Calibri"/>
              </a:rPr>
              <a:t>Importance of clearing secretions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200" spc="-1" strike="noStrike">
                <a:solidFill>
                  <a:srgbClr val="000000"/>
                </a:solidFill>
                <a:latin typeface="Calibri"/>
              </a:rPr>
              <a:t>Clearance techniques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8360" y="404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5400" spc="-1" strike="noStrike">
                <a:solidFill>
                  <a:srgbClr val="000000"/>
                </a:solidFill>
                <a:latin typeface="Calibri"/>
              </a:rPr>
              <a:t>Secretions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95280" y="1557360"/>
            <a:ext cx="8229600" cy="4387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Phlegm, mucus, spit, sputum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Normal fluid produced by the body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Clear, creamy, yellow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Green or brown may indicate infection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Role 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Transport foreign objects out of the lungs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Damage to airways can cause difficulty clearing secretions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" name="Picture 5" descr="C:\Users\StuartK2\AppData\Local\Microsoft\Windows\Temporary Internet Files\Content.IE5\F25UMBAY\lungs6b[1].gif"/>
          <p:cNvPicPr/>
          <p:nvPr/>
        </p:nvPicPr>
        <p:blipFill>
          <a:blip r:embed="rId1"/>
          <a:stretch/>
        </p:blipFill>
        <p:spPr>
          <a:xfrm>
            <a:off x="5867280" y="907920"/>
            <a:ext cx="3254400" cy="311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nodeType="clickEffect" fill="hold">
                      <p:stCondLst>
                        <p:cond delay="indefinite"/>
                      </p:stCondLst>
                      <p:childTnLst>
                        <p:par>
                          <p:cTn id="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5400" spc="-1" strike="noStrike">
                <a:solidFill>
                  <a:srgbClr val="000000"/>
                </a:solidFill>
                <a:latin typeface="Calibri"/>
              </a:rPr>
              <a:t>Movement of Cilia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" name="Content Placeholder 3" descr=""/>
          <p:cNvPicPr/>
          <p:nvPr/>
        </p:nvPicPr>
        <p:blipFill>
          <a:blip r:embed="rId1"/>
          <a:stretch/>
        </p:blipFill>
        <p:spPr>
          <a:xfrm rot="5400000">
            <a:off x="816480" y="3151800"/>
            <a:ext cx="3960720" cy="1346400"/>
          </a:xfrm>
          <a:prstGeom prst="rect">
            <a:avLst/>
          </a:prstGeom>
          <a:ln w="0">
            <a:noFill/>
          </a:ln>
        </p:spPr>
      </p:pic>
      <p:pic>
        <p:nvPicPr>
          <p:cNvPr id="22" name="Content Placeholder 3" descr=""/>
          <p:cNvPicPr/>
          <p:nvPr/>
        </p:nvPicPr>
        <p:blipFill>
          <a:blip r:embed="rId2"/>
          <a:stretch/>
        </p:blipFill>
        <p:spPr>
          <a:xfrm flipH="1" rot="16200000">
            <a:off x="3898080" y="3137760"/>
            <a:ext cx="3960720" cy="131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115920"/>
            <a:ext cx="8229600" cy="13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5400" spc="-1" strike="noStrike">
                <a:solidFill>
                  <a:srgbClr val="000000"/>
                </a:solidFill>
                <a:latin typeface="Calibri"/>
              </a:rPr>
              <a:t>Importance of clearing secretions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46040" y="1917720"/>
            <a:ext cx="8229600" cy="446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80000"/>
              </a:lnSpc>
              <a:spcBef>
                <a:spcPts val="62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2500" spc="-1" strike="noStrike">
                <a:solidFill>
                  <a:srgbClr val="000000"/>
                </a:solidFill>
                <a:latin typeface="Calibri"/>
              </a:rPr>
              <a:t>Airway hygiene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alibri"/>
              </a:rPr>
              <a:t>Environment for infection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2500" spc="-1" strike="noStrike">
                <a:solidFill>
                  <a:srgbClr val="000000"/>
                </a:solidFill>
                <a:latin typeface="Calibri"/>
              </a:rPr>
              <a:t>Increases gas exchange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alibri"/>
              </a:rPr>
              <a:t>- Lack of oxygen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2500" spc="-1" strike="noStrike">
                <a:solidFill>
                  <a:srgbClr val="000000"/>
                </a:solidFill>
                <a:latin typeface="Calibri"/>
              </a:rPr>
              <a:t>Makes breathing easier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alibri"/>
              </a:rPr>
              <a:t>- Feeling short of breath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2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2500" spc="-1" strike="noStrike">
                <a:solidFill>
                  <a:srgbClr val="000000"/>
                </a:solidFill>
                <a:latin typeface="Calibri"/>
              </a:rPr>
              <a:t>Chronic cough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alibri"/>
              </a:rPr>
              <a:t>Social impact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00000"/>
                </a:solidFill>
                <a:latin typeface="Calibri"/>
              </a:rPr>
              <a:t>Stress incontinence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8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5" name="Picture 7" descr=""/>
          <p:cNvPicPr/>
          <p:nvPr/>
        </p:nvPicPr>
        <p:blipFill>
          <a:blip r:embed="rId1"/>
          <a:srcRect l="0" t="11890" r="31534" b="0"/>
          <a:stretch/>
        </p:blipFill>
        <p:spPr>
          <a:xfrm>
            <a:off x="4788000" y="2174760"/>
            <a:ext cx="3782880" cy="2549520"/>
          </a:xfrm>
          <a:prstGeom prst="rect">
            <a:avLst/>
          </a:prstGeom>
          <a:ln w="0">
            <a:noFill/>
          </a:ln>
          <a:effectLst>
            <a:outerShdw dist="139498" dir="2700000" blurRad="0" rotWithShape="0">
              <a:srgbClr val="333333">
                <a:alpha val="65000"/>
              </a:srgbClr>
            </a:outerShdw>
          </a:effectLst>
        </p:spPr>
      </p:pic>
      <p:pic>
        <p:nvPicPr>
          <p:cNvPr id="26" name="Picture 8" descr=""/>
          <p:cNvPicPr/>
          <p:nvPr/>
        </p:nvPicPr>
        <p:blipFill>
          <a:blip r:embed="rId2"/>
          <a:stretch/>
        </p:blipFill>
        <p:spPr>
          <a:xfrm>
            <a:off x="4686480" y="2403360"/>
            <a:ext cx="3985920" cy="2394000"/>
          </a:xfrm>
          <a:prstGeom prst="rect">
            <a:avLst/>
          </a:prstGeom>
          <a:ln w="0">
            <a:noFill/>
          </a:ln>
        </p:spPr>
      </p:pic>
      <p:pic>
        <p:nvPicPr>
          <p:cNvPr id="27" name="Picture 9" descr=""/>
          <p:cNvPicPr/>
          <p:nvPr/>
        </p:nvPicPr>
        <p:blipFill>
          <a:blip r:embed="rId3"/>
          <a:srcRect l="47705" t="16506" r="24641" b="22215"/>
          <a:stretch/>
        </p:blipFill>
        <p:spPr>
          <a:xfrm>
            <a:off x="4753080" y="4040280"/>
            <a:ext cx="1619280" cy="198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nodeType="clickEffect" fill="hold">
                      <p:stCondLst>
                        <p:cond delay="indefinite"/>
                      </p:stCondLst>
                      <p:childTnLst>
                        <p:par>
                          <p:cTn id="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nodeType="clickEffect" fill="hold">
                      <p:stCondLst>
                        <p:cond delay="indefinite"/>
                      </p:stCondLst>
                      <p:childTnLst>
                        <p:par>
                          <p:cTn id="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nodeType="clickEffect" fill="hold">
                      <p:stCondLst>
                        <p:cond delay="indefinite"/>
                      </p:stCondLst>
                      <p:childTnLst>
                        <p:par>
                          <p:cTn id="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nodeType="clickEffect" fill="hold">
                      <p:stCondLst>
                        <p:cond delay="indefinite"/>
                      </p:stCondLst>
                      <p:childTnLst>
                        <p:par>
                          <p:cTn id="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nodeType="clickEffect" fill="hold">
                      <p:stCondLst>
                        <p:cond delay="indefinite"/>
                      </p:stCondLst>
                      <p:childTnLst>
                        <p:par>
                          <p:cTn id="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nodeType="clickEffect" fill="hold">
                      <p:stCondLst>
                        <p:cond delay="indefinite"/>
                      </p:stCondLst>
                      <p:childTnLst>
                        <p:par>
                          <p:cTn id="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5400" spc="-1" strike="noStrike">
                <a:solidFill>
                  <a:srgbClr val="000000"/>
                </a:solidFill>
                <a:latin typeface="Calibri"/>
              </a:rPr>
              <a:t>Clearance techniques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Exercise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Deep breaths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Cough/ huff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Steam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Hydration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Inhalers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Gravity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0" name="Picture 1" descr=""/>
          <p:cNvPicPr/>
          <p:nvPr/>
        </p:nvPicPr>
        <p:blipFill>
          <a:blip r:embed="rId1"/>
          <a:stretch/>
        </p:blipFill>
        <p:spPr>
          <a:xfrm>
            <a:off x="3510000" y="1413000"/>
            <a:ext cx="2286000" cy="2971800"/>
          </a:xfrm>
          <a:prstGeom prst="rect">
            <a:avLst/>
          </a:prstGeom>
          <a:ln w="0">
            <a:noFill/>
          </a:ln>
          <a:effectLst>
            <a:outerShdw dist="139498" dir="2700000" blurRad="0" rotWithShape="0">
              <a:srgbClr val="333333">
                <a:alpha val="65000"/>
              </a:srgbClr>
            </a:outerShdw>
          </a:effectLst>
        </p:spPr>
      </p:pic>
      <p:pic>
        <p:nvPicPr>
          <p:cNvPr id="31" name="Picture 2" descr=""/>
          <p:cNvPicPr/>
          <p:nvPr/>
        </p:nvPicPr>
        <p:blipFill>
          <a:blip r:embed="rId2"/>
          <a:srcRect l="22130" t="0" r="0" b="0"/>
          <a:stretch/>
        </p:blipFill>
        <p:spPr>
          <a:xfrm>
            <a:off x="5925960" y="4073400"/>
            <a:ext cx="2967120" cy="2524320"/>
          </a:xfrm>
          <a:prstGeom prst="rect">
            <a:avLst/>
          </a:prstGeom>
          <a:ln w="0">
            <a:noFill/>
          </a:ln>
          <a:effectLst>
            <a:outerShdw dist="139498" dir="2700000" blurRad="0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" dur="indefinite" restart="never" nodeType="tmRoot">
          <p:childTnLst>
            <p:seq>
              <p:cTn id="77" dur="indefinite" nodeType="mainSeq">
                <p:childTnLst>
                  <p:par>
                    <p:cTn id="78" nodeType="clickEffect" fill="hold">
                      <p:stCondLst>
                        <p:cond delay="indefinite"/>
                      </p:stCondLst>
                      <p:childTnLst>
                        <p:par>
                          <p:cTn id="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nodeType="clickEffect" fill="hold">
                      <p:stCondLst>
                        <p:cond delay="indefinite"/>
                      </p:stCondLst>
                      <p:childTnLst>
                        <p:par>
                          <p:cTn id="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nodeType="clickEffect" fill="hold">
                      <p:stCondLst>
                        <p:cond delay="indefinite"/>
                      </p:stCondLst>
                      <p:childTnLst>
                        <p:par>
                          <p:cTn id="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nodeType="clickEffect" fill="hold">
                      <p:stCondLst>
                        <p:cond delay="indefinite"/>
                      </p:stCondLst>
                      <p:childTnLst>
                        <p:par>
                          <p:cTn id="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nodeType="clickEffect" fill="hold">
                      <p:stCondLst>
                        <p:cond delay="indefinite"/>
                      </p:stCondLst>
                      <p:childTnLst>
                        <p:par>
                          <p:cTn id="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nodeType="clickEffect" fill="hold">
                      <p:stCondLst>
                        <p:cond delay="indefinite"/>
                      </p:stCondLst>
                      <p:childTnLst>
                        <p:par>
                          <p:cTn id="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nodeType="clickEffect" fill="hold">
                      <p:stCondLst>
                        <p:cond delay="indefinite"/>
                      </p:stCondLst>
                      <p:childTnLst>
                        <p:par>
                          <p:cTn id="1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nodeType="clickEffect" fill="hold">
                      <p:stCondLst>
                        <p:cond delay="indefinite"/>
                      </p:stCondLst>
                      <p:childTnLst>
                        <p:par>
                          <p:cTn id="1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8" descr=""/>
          <p:cNvPicPr/>
          <p:nvPr/>
        </p:nvPicPr>
        <p:blipFill>
          <a:blip r:embed="rId1"/>
          <a:stretch/>
        </p:blipFill>
        <p:spPr>
          <a:xfrm>
            <a:off x="2050920" y="-74520"/>
            <a:ext cx="5131080" cy="678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5400" spc="-1" strike="noStrike">
                <a:solidFill>
                  <a:srgbClr val="000000"/>
                </a:solidFill>
                <a:latin typeface="Calibri"/>
              </a:rPr>
              <a:t>Summary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Constantia"/>
              <a:buChar char="√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200" spc="-1" strike="noStrike">
                <a:solidFill>
                  <a:srgbClr val="000000"/>
                </a:solidFill>
                <a:latin typeface="Calibri"/>
              </a:rPr>
              <a:t>Function of secretions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Constantia"/>
              <a:buChar char="√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Constantia"/>
              <a:buChar char="√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200" spc="-1" strike="noStrike">
                <a:solidFill>
                  <a:srgbClr val="000000"/>
                </a:solidFill>
                <a:latin typeface="Calibri"/>
              </a:rPr>
              <a:t>Importance of clearing secretions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Constantia"/>
              <a:buChar char="√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Constantia"/>
              <a:buChar char="√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200" spc="-1" strike="noStrike">
                <a:solidFill>
                  <a:srgbClr val="000000"/>
                </a:solidFill>
                <a:latin typeface="Calibri"/>
              </a:rPr>
              <a:t>Clearance techniques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2012-10-01T13:26:37Z</dcterms:created>
  <dc:creator>eastwob</dc:creator>
  <dc:description/>
  <dc:language>en-US</dc:language>
  <cp:lastModifiedBy>Stephanie Botes (CMDHB)</cp:lastModifiedBy>
  <dcterms:modified xsi:type="dcterms:W3CDTF">2023-10-02T11:00:03Z</dcterms:modified>
  <cp:revision>29</cp:revision>
  <dc:subject/>
  <dc:title>Sputum Clearance</dc:title>
</cp:coreProperties>
</file>